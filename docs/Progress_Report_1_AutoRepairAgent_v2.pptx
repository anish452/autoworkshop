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914400" y="4114800"/>
            <a:ext cx="2286000" cy="22860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0" y="4572000"/>
            <a:ext cx="1371600" cy="13716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29000" y="822960"/>
            <a:ext cx="2286000" cy="22860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1417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</a:defRPr>
            </a:pPr>
            <a:r>
              <a:t>AutoRepairAgent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E3F2FD"/>
                </a:solidFill>
              </a:defRPr>
            </a:pPr>
            <a:r>
              <a:t>AI-Powered Vehicle Repair Workshop Management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663440"/>
            <a:ext cx="27432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9688"/>
                </a:solidFill>
              </a:defRPr>
            </a:pPr>
            <a:r>
              <a:t>Progress Report 1  —  Phase 1 Foundation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49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BDBDBD"/>
                </a:solidFill>
              </a:defRPr>
            </a:pPr>
            <a:r>
              <a:t>Student: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49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[Your Name]  |  ID: [Student ID]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6052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BDBDBD"/>
                </a:solidFill>
              </a:defRPr>
            </a:pPr>
            <a:r>
              <a:t>Course: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6052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[Course Name / Code]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86130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BDBDBD"/>
                </a:solidFill>
              </a:defRPr>
            </a:pPr>
            <a:r>
              <a:t>College: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86130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[College 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11733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BDBDBD"/>
                </a:solidFill>
              </a:defRPr>
            </a:pPr>
            <a:r>
              <a:t>Period: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1173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Reporting Period: [Start Date] – [End Date]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3733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BDBDBD"/>
                </a:solidFill>
              </a:defRPr>
            </a:pPr>
            <a:r>
              <a:t>Date: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3733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</a:defRPr>
            </a:pPr>
            <a:r>
              <a:t>Submission Date: July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Presentation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Organisation of This Report — 20 Slides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012786"/>
              </p:ext>
            </p:extLst>
          </p:nvPr>
        </p:nvGraphicFramePr>
        <p:xfrm>
          <a:off x="685800" y="1325880"/>
          <a:ext cx="766045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/>
                        <a:t>Section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Topics Covered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Slides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Introduction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/>
                        <a:t>Project overview, objectives, technology stack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3 – 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/>
                        <a:t>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/>
                        <a:t>Database, authentication, admin modules + screenshots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6 – 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Pending Work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/>
                        <a:t>Phase 2 modules not yet started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Challenges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/>
                        <a:t>Problems encountered &amp; how they were resolved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16 – 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Status &amp; Plan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/>
                        <a:t>Project on-track assessment, next period plan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/>
                        <a:t>18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01 — INTRO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Project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Background &amp; Purpose of AutoRepairAgent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3281796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lang="en-NZ" dirty="0" err="1"/>
              <a:t>AutoRepairAgent</a:t>
            </a:r>
            <a:r>
              <a:rPr lang="en-NZ" dirty="0"/>
              <a:t> is an all-in-one web-based system for vehicle repair work workshop monitoring.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lang="en-NZ" dirty="0"/>
              <a:t>The AI-driven classification of customer complaints and job routing to departments is part of the system. 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lang="en-NZ" dirty="0"/>
              <a:t>Phase 1 aimed at technical foundations: Database, Auth, Admin and UI Design. Structured software engineering practices (Sommerville, 2016) were followed in development.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Development followed structured software engineering practices (Sommerville, 2016).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lang="en-NZ" dirty="0"/>
              <a:t>This report provides information on the progress, problems encountered and plans for Phase 2 of the work.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01 — INTRO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Phase 1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Planned Deliverables for the First Reporting Period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193453"/>
              </p:ext>
            </p:extLst>
          </p:nvPr>
        </p:nvGraphicFramePr>
        <p:xfrm>
          <a:off x="685800" y="1325880"/>
          <a:ext cx="709866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#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Module / Feature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Status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lang="en-N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design of the database and using Prisma ORM with PostgreSQL.</a:t>
                      </a:r>
                      <a:endParaRPr sz="1800"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rPr sz="1800"/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lang="en-N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JWT authentication &amp; </a:t>
                      </a:r>
                      <a:r>
                        <a:rPr lang="en-NZ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bcrypt</a:t>
                      </a:r>
                      <a:r>
                        <a:rPr lang="en-N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password hashing.</a:t>
                      </a:r>
                      <a:endParaRPr sz="18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rPr sz="1800"/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br>
                        <a:rPr lang="en-NZ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NZ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 Based Access Control (8 roles).</a:t>
                      </a:r>
                      <a:endParaRPr sz="1800"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rPr sz="1800"/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/>
                        <a:t>Admin module — User creation &amp;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rPr sz="1800"/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/>
                        <a:t>Department creation &amp; management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rPr sz="1800"/>
                        <a:t>Complete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/>
                        <a:t>Front-end </a:t>
                      </a:r>
                      <a:r>
                        <a:rPr lang="en-NZ" sz="1800" dirty="0"/>
                        <a:t>UI </a:t>
                      </a:r>
                      <a:r>
                        <a:rPr sz="1800" dirty="0"/>
                        <a:t>(React + MUI)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7D32"/>
                          </a:solidFill>
                        </a:defRPr>
                      </a:pPr>
                      <a:r>
                        <a:rPr sz="1800"/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/>
                        <a:t>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1800" dirty="0"/>
                        <a:t>Customer, Vehicle &amp; AI modules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rPr sz="1800" dirty="0"/>
                        <a:t>Pending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01 — INTRO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Tools &amp; Frameworks — Phase 1 (Sommerville, 2016)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36576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3167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80160"/>
            <a:ext cx="36576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37360"/>
            <a:ext cx="365760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lang="en-NZ" dirty="0"/>
              <a:t>This is the same as the runtime environment for Node.js (LTS).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lang="en-NZ" dirty="0"/>
              <a:t>The Express.js REST API framework (Express.js, n.d.)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Prisma ORM + PostgreSQL database (Prisma Data, Inc., 2024)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JWT + </a:t>
            </a:r>
            <a:r>
              <a:rPr dirty="0" err="1"/>
              <a:t>bcrypt</a:t>
            </a:r>
            <a:r>
              <a:rPr dirty="0"/>
              <a:t> authentication (OWASP Foundation, 2021)</a:t>
            </a:r>
            <a:endParaRPr lang="en-NZ" dirty="0"/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Clean Architecture (Martin, 2017)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977640" cy="2005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React 18 + Vite build tool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Material UI v5 components (Meta Platforms, Inc., 2024)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React Router v6 navigation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React Hook Form </a:t>
            </a:r>
            <a:endParaRPr lang="en-NZ" dirty="0"/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Axios HTTP client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Recharts data </a:t>
            </a:r>
            <a:r>
              <a:rPr dirty="0" err="1"/>
              <a:t>visualisation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02 —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Clean Architecture — 3-Layer Backend + React Frontend (Martin, 2017)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6-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87552"/>
            <a:ext cx="8549640" cy="500764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Figure 1. Phase 1 three-tier system architecture with security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02 —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Database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rPr dirty="0"/>
              <a:t>PostgreSQL Schema &amp; Prisma ORM (Prisma Data, Inc.,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1307592"/>
            <a:ext cx="7772400" cy="32367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lang="en-NZ" dirty="0"/>
              <a:t>Created 10 relational tables (Role, Department, User, Customer, Vehicle, Job, etc.).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lang="en-NZ" dirty="0"/>
              <a:t> Added a new table: Audits</a:t>
            </a:r>
            <a:endParaRPr dirty="0"/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Created </a:t>
            </a:r>
            <a:r>
              <a:rPr dirty="0" err="1"/>
              <a:t>enums</a:t>
            </a:r>
            <a:r>
              <a:rPr dirty="0"/>
              <a:t>: </a:t>
            </a:r>
            <a:r>
              <a:rPr dirty="0" err="1"/>
              <a:t>RoleName</a:t>
            </a:r>
            <a:r>
              <a:rPr dirty="0"/>
              <a:t>, </a:t>
            </a:r>
            <a:r>
              <a:rPr dirty="0" err="1"/>
              <a:t>DepartmentCode</a:t>
            </a:r>
            <a:r>
              <a:rPr dirty="0"/>
              <a:t>, </a:t>
            </a:r>
            <a:r>
              <a:rPr dirty="0" err="1"/>
              <a:t>JobStatus</a:t>
            </a:r>
            <a:r>
              <a:rPr dirty="0"/>
              <a:t>, </a:t>
            </a:r>
            <a:r>
              <a:rPr dirty="0" err="1"/>
              <a:t>AuditAction</a:t>
            </a:r>
            <a:endParaRPr dirty="0"/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Initial migration: </a:t>
            </a:r>
            <a:r>
              <a:rPr dirty="0" err="1"/>
              <a:t>prisma</a:t>
            </a:r>
            <a:r>
              <a:rPr dirty="0"/>
              <a:t>/migrations</a:t>
            </a:r>
            <a:endParaRPr lang="en-NZ" dirty="0"/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</a:t>
            </a:r>
            <a:r>
              <a:rPr lang="en-NZ" dirty="0"/>
              <a:t>Seed script adds 5 departments, 8 test users and sample data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lang="en-NZ" dirty="0"/>
              <a:t>A foreign key relationship between the tables is already created for the Phase 2 business modules.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lang="en-NZ" dirty="0"/>
              <a:t>A database that runs on PostgreSQL (Neon cloud) and is accessed via SSL connection.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02 —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Authentication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Secure Login &amp; Role-Based Access Control (OWASP Foundation, 2021)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266681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POST /</a:t>
            </a:r>
            <a:r>
              <a:rPr dirty="0" err="1"/>
              <a:t>api</a:t>
            </a:r>
            <a:r>
              <a:rPr dirty="0"/>
              <a:t>/auth/login —</a:t>
            </a:r>
            <a:r>
              <a:rPr lang="en-NZ" sz="1500" dirty="0"/>
              <a:t>Log in to the system for authentication, returning a signed JWT </a:t>
            </a:r>
            <a:r>
              <a:rPr lang="en-NZ" sz="1500" dirty="0" err="1"/>
              <a:t>token.Validates</a:t>
            </a:r>
            <a:r>
              <a:rPr lang="en-NZ" sz="1500" dirty="0"/>
              <a:t> credentials, returns signed JWT.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Passwords hashed </a:t>
            </a:r>
            <a:r>
              <a:rPr lang="en-NZ" dirty="0"/>
              <a:t> b</a:t>
            </a:r>
            <a:r>
              <a:rPr dirty="0" err="1"/>
              <a:t>efore</a:t>
            </a:r>
            <a:r>
              <a:rPr dirty="0"/>
              <a:t> database storage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JWT middleware (auth.js) </a:t>
            </a:r>
            <a:r>
              <a:rPr lang="en-NZ" dirty="0"/>
              <a:t>used </a:t>
            </a:r>
            <a:endParaRPr dirty="0"/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lang="en-NZ" sz="1500" dirty="0"/>
              <a:t>Access to endpoints is controlled by Middleware using RBAC (rbac.js).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lang="en-NZ" sz="1500" dirty="0"/>
              <a:t>The Frontend </a:t>
            </a:r>
            <a:r>
              <a:rPr lang="en-NZ" sz="1500" dirty="0" err="1"/>
              <a:t>AuthContext</a:t>
            </a:r>
            <a:r>
              <a:rPr lang="en-NZ" sz="1500" dirty="0"/>
              <a:t> saves the token in </a:t>
            </a:r>
            <a:r>
              <a:rPr lang="en-NZ" sz="1500" dirty="0" err="1"/>
              <a:t>localStorage.The</a:t>
            </a:r>
            <a:r>
              <a:rPr lang="en-NZ" sz="1500" dirty="0"/>
              <a:t> Frontend </a:t>
            </a:r>
            <a:r>
              <a:rPr lang="en-NZ" sz="1500" dirty="0" err="1"/>
              <a:t>AuthContext</a:t>
            </a:r>
            <a:r>
              <a:rPr lang="en-NZ" sz="1500" dirty="0"/>
              <a:t> saves the token to </a:t>
            </a:r>
            <a:r>
              <a:rPr lang="en-NZ" sz="1500" dirty="0" err="1"/>
              <a:t>localStorage</a:t>
            </a:r>
            <a:r>
              <a:rPr lang="en-NZ" sz="1500" dirty="0"/>
              <a:t>. 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lang="en-NZ" sz="1500" dirty="0"/>
              <a:t>Unauthenticated users will be redirected to /login via protected routes.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lang="en-NZ" sz="1500" dirty="0"/>
              <a:t>When an Axios interceptor is attached, it adds the token to each request and deals with the session expiration.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02 —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Authentication — Login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System Screenshot: Secure User Login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1-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Figure 2. AutoRepairAgent login page — JWT authentication with role-based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02 —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Admin Module — User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Create, Edit, Activate &amp; Deactivate System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2079993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REST API: GET / POST / PUT / DELETE  /</a:t>
            </a:r>
            <a:r>
              <a:rPr dirty="0" err="1"/>
              <a:t>api</a:t>
            </a:r>
            <a:r>
              <a:rPr dirty="0"/>
              <a:t>/admin/users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Admin assigns roles: ADMIN, JOB_ADVISOR, MECHANICAL, CUSTOMER, etc.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Users linked to workshop departments where applicable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Activate / deactivate accounts without permanent deletion</a:t>
            </a:r>
            <a:r>
              <a:rPr lang="en-NZ" dirty="0"/>
              <a:t> </a:t>
            </a:r>
            <a:endParaRPr dirty="0"/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Audit logging records every user management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02 —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User Management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System Screenshot: Admin Users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3-users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Figure 3. User list showing name, email, role, department, and active 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02 —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Department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Workshop Department Configuration &amp; CRUD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325880"/>
            <a:ext cx="7772400" cy="493776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REST API: GET / POST / PUT / DELETE  /</a:t>
            </a:r>
            <a:r>
              <a:rPr dirty="0" err="1"/>
              <a:t>api</a:t>
            </a:r>
            <a:r>
              <a:rPr dirty="0"/>
              <a:t>/admin/departments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5 default departments seeded: Mechanical, Electrical, Body Repair, Paint, General Inspection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Each department: name, unique code, description, active/inactive status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Department staff linked via </a:t>
            </a:r>
            <a:r>
              <a:rPr dirty="0" err="1"/>
              <a:t>departmentId</a:t>
            </a:r>
            <a:r>
              <a:rPr dirty="0"/>
              <a:t> on User model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▸  Card-based UI layout with create, edit, and delete dialog 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02 —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Department Management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System Screenshot: Departments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4-departments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Figure 4. Workshop department cards with descriptions and management 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02 —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Front-End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React UI Layout &amp; Reusable Components (Meta Platforms, Inc.,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36576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3167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Layout &amp; Theme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80160"/>
            <a:ext cx="36576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Data &amp;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dirty="0" err="1"/>
              <a:t>MainLayout</a:t>
            </a:r>
            <a:r>
              <a:rPr dirty="0"/>
              <a:t> — sidebar nav, app bar, theme toggle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Role-based menu items per user role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dirty="0" err="1"/>
              <a:t>PageHeader</a:t>
            </a:r>
            <a:r>
              <a:rPr dirty="0"/>
              <a:t>, </a:t>
            </a:r>
            <a:r>
              <a:rPr dirty="0" err="1"/>
              <a:t>StatusChip</a:t>
            </a:r>
            <a:r>
              <a:rPr dirty="0"/>
              <a:t>, </a:t>
            </a:r>
            <a:r>
              <a:rPr dirty="0" err="1"/>
              <a:t>KpiCard</a:t>
            </a:r>
            <a:r>
              <a:rPr dirty="0"/>
              <a:t> components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Light / dark mode theme support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Inter + Space Grotesk typography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Blue gradient professional </a:t>
            </a:r>
            <a:r>
              <a:rPr dirty="0" err="1"/>
              <a:t>colour</a:t>
            </a:r>
            <a:r>
              <a:rPr dirty="0"/>
              <a:t> scheme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React Hook Form + Zod validation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</a:t>
            </a:r>
            <a:r>
              <a:rPr dirty="0" err="1"/>
              <a:t>TanStack</a:t>
            </a:r>
            <a:r>
              <a:rPr dirty="0"/>
              <a:t> React Query data fetching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Axios API service with interceptors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React Router v6 protected routes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React </a:t>
            </a:r>
            <a:r>
              <a:rPr dirty="0" err="1"/>
              <a:t>Toastify</a:t>
            </a:r>
            <a:r>
              <a:rPr dirty="0"/>
              <a:t> notifications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Responsive MUI v5 grid layout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02 —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Admin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System Screenshot: Dashboard UI with KPI Summary Cards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97280"/>
            <a:ext cx="8138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5-admin-dashboard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55" y="1234440"/>
            <a:ext cx="5787889" cy="4754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5989320"/>
            <a:ext cx="8138160" cy="3840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Figure 5. Admin dashboard — job statistics and system-wide overview layout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03 —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Items Not Yet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Planned for Phase 2 — Next Reporting Period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Pending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1325880"/>
          <a:ext cx="7772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Customer Module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Register &amp; manage workshop customers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Vehicle Module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Register vehicles linked to customers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dirty="0"/>
                        <a:t>AI Job Creation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Complaint submission &amp; auto job generation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AI Job Assignment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DeepSeek API integration &amp; department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AI Analysis Log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History of all AI classification decisions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Cloud hosting, Docker, CI/CD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65100"/>
                          </a:solidFill>
                        </a:defRPr>
                      </a:pPr>
                      <a:r>
                        <a:rPr dirty="0"/>
                        <a:t>Pending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03 —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Problems Encountered &amp;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Technical Challenges and How They Were Resolved (Sommerville, 2016)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36576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3167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Problems Encountered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80160"/>
            <a:ext cx="36576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3167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Solutions Applied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lang="en-NZ" dirty="0"/>
              <a:t>▸  Node modules — separate </a:t>
            </a:r>
            <a:r>
              <a:rPr lang="en-NZ" dirty="0" err="1"/>
              <a:t>npm</a:t>
            </a:r>
            <a:r>
              <a:rPr lang="en-NZ" dirty="0"/>
              <a:t> install for backend &amp; frontend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lang="en-NZ" dirty="0"/>
              <a:t>▸  Database migration failures — incorrect DATABASE_URL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lang="en-NZ" dirty="0"/>
              <a:t>▸  Missing libraries — </a:t>
            </a:r>
            <a:r>
              <a:rPr lang="en-NZ" dirty="0" err="1"/>
              <a:t>bcrypt</a:t>
            </a:r>
            <a:r>
              <a:rPr lang="en-NZ" dirty="0"/>
              <a:t>, </a:t>
            </a:r>
            <a:r>
              <a:rPr lang="en-NZ" dirty="0" err="1"/>
              <a:t>jsonwebtoken</a:t>
            </a:r>
            <a:r>
              <a:rPr lang="en-NZ" dirty="0"/>
              <a:t>, </a:t>
            </a:r>
            <a:r>
              <a:rPr lang="en-NZ" dirty="0" err="1"/>
              <a:t>zod</a:t>
            </a:r>
            <a:r>
              <a:rPr lang="en-NZ" dirty="0"/>
              <a:t> errors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lang="en-NZ" dirty="0"/>
              <a:t>▸  CORS errors — React (5173) ↔ Express (3000) conflict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lang="en-NZ" dirty="0"/>
              <a:t>▸  Missing .env variables blocked server startup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✅ </a:t>
            </a:r>
            <a:r>
              <a:rPr dirty="0" err="1"/>
              <a:t>npm</a:t>
            </a:r>
            <a:r>
              <a:rPr dirty="0"/>
              <a:t> install in root + UI/</a:t>
            </a:r>
            <a:r>
              <a:rPr dirty="0" err="1"/>
              <a:t>autorepairagent</a:t>
            </a:r>
            <a:r>
              <a:rPr dirty="0"/>
              <a:t> folders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✅ Corrected DATABASE_URL with </a:t>
            </a:r>
            <a:r>
              <a:rPr dirty="0" err="1"/>
              <a:t>sslmode</a:t>
            </a:r>
            <a:r>
              <a:rPr dirty="0"/>
              <a:t>=require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✅ Installed all packages; updated </a:t>
            </a:r>
            <a:r>
              <a:rPr dirty="0" err="1"/>
              <a:t>package.json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✅ Configured CORS + Vite proxy → localhost:3000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rPr dirty="0"/>
              <a:t>▸  ✅ Created .env from .</a:t>
            </a:r>
            <a:r>
              <a:rPr dirty="0" err="1"/>
              <a:t>env.example</a:t>
            </a:r>
            <a:r>
              <a:rPr dirty="0"/>
              <a:t>; added </a:t>
            </a:r>
            <a:r>
              <a:rPr dirty="0" err="1"/>
              <a:t>dev:all</a:t>
            </a:r>
            <a:r>
              <a:rPr dirty="0"/>
              <a:t> script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04 —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Project Status &amp; Next Period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Assessment: ON TRACK — Phase 2 Ready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Status &amp;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1325880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✔  ON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011680"/>
            <a:ext cx="75895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12121"/>
                </a:solidFill>
              </a:defRPr>
            </a:pPr>
            <a:r>
              <a:rPr lang="en-NZ" dirty="0"/>
              <a:t>▸  </a:t>
            </a:r>
            <a:r>
              <a:rPr lang="en-NZ" sz="1400" dirty="0"/>
              <a:t>All Phase 1 targets achieved in the cycle.</a:t>
            </a:r>
          </a:p>
          <a:p>
            <a:pPr>
              <a:spcAft>
                <a:spcPts val="900"/>
              </a:spcAft>
              <a:defRPr sz="1400">
                <a:solidFill>
                  <a:srgbClr val="212121"/>
                </a:solidFill>
              </a:defRPr>
            </a:pPr>
            <a:r>
              <a:rPr lang="en-NZ" dirty="0"/>
              <a:t>▸  </a:t>
            </a:r>
            <a:r>
              <a:rPr lang="en-NZ" sz="1400" dirty="0"/>
              <a:t>The database, authentication, admin and departments are ready, as are the UI design and the foundation.</a:t>
            </a:r>
          </a:p>
          <a:p>
            <a:pPr>
              <a:spcAft>
                <a:spcPts val="900"/>
              </a:spcAft>
              <a:defRPr sz="1400">
                <a:solidFill>
                  <a:srgbClr val="212121"/>
                </a:solidFill>
              </a:defRPr>
            </a:pPr>
            <a:r>
              <a:rPr lang="en-NZ" dirty="0"/>
              <a:t>▸  </a:t>
            </a:r>
            <a:r>
              <a:rPr lang="en-NZ" sz="1400" dirty="0"/>
              <a:t>The second phase of the focus is customer module -- vehicle module -- AI integration.</a:t>
            </a:r>
          </a:p>
          <a:p>
            <a:pPr>
              <a:spcAft>
                <a:spcPts val="900"/>
              </a:spcAft>
              <a:defRPr sz="1400">
                <a:solidFill>
                  <a:srgbClr val="212121"/>
                </a:solidFill>
              </a:defRPr>
            </a:pPr>
            <a:r>
              <a:rPr lang="en-NZ" dirty="0"/>
              <a:t>▸  Phase 2 focus: AI job creation, assignment, and analysis log.</a:t>
            </a:r>
          </a:p>
          <a:p>
            <a:pPr>
              <a:spcAft>
                <a:spcPts val="900"/>
              </a:spcAft>
              <a:defRPr sz="1400">
                <a:solidFill>
                  <a:srgbClr val="212121"/>
                </a:solidFill>
              </a:defRPr>
            </a:pPr>
            <a:r>
              <a:rPr lang="en-NZ" dirty="0"/>
              <a:t>▸  Risk: DeepSeek API key availability — mitigated by keyword fallback classifier.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29200"/>
            <a:ext cx="7589520" cy="123444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102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F2744"/>
                </a:solidFill>
              </a:defRPr>
            </a:pPr>
            <a:r>
              <a:t>Phase 2 Timeline (Proposed)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7315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12121"/>
                </a:solidFill>
              </a:defRPr>
            </a:pPr>
            <a:r>
              <a:rPr dirty="0"/>
              <a:t>Week </a:t>
            </a:r>
            <a:r>
              <a:rPr lang="en-NZ" dirty="0"/>
              <a:t>5</a:t>
            </a:r>
            <a:r>
              <a:rPr dirty="0"/>
              <a:t>: Customers  →  Week </a:t>
            </a:r>
            <a:r>
              <a:rPr lang="en-NZ" dirty="0"/>
              <a:t>6</a:t>
            </a:r>
            <a:r>
              <a:rPr dirty="0"/>
              <a:t>: Vehicles  →  Week </a:t>
            </a:r>
            <a:r>
              <a:rPr lang="en-NZ" dirty="0"/>
              <a:t>7</a:t>
            </a:r>
            <a:r>
              <a:rPr dirty="0"/>
              <a:t>: AI Integration  →  Week </a:t>
            </a:r>
            <a:r>
              <a:rPr lang="en-NZ" dirty="0"/>
              <a:t>8</a:t>
            </a:r>
            <a:r>
              <a:rPr dirty="0"/>
              <a:t>: Job Assignment &amp; Testing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02 —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System Screenshots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t>Phase 1 UI Evidence — Figures 2 to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BDBDBD"/>
                </a:solidFill>
              </a:defRPr>
            </a:pPr>
            <a:r>
              <a:t>Screenshots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52728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591517"/>
              </p:ext>
            </p:extLst>
          </p:nvPr>
        </p:nvGraphicFramePr>
        <p:xfrm>
          <a:off x="685800" y="1719072"/>
          <a:ext cx="7772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Figure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Screen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Module Demonstrated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Figure 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Login Page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Authentication &amp; JWT login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Figure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Users Page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Admin user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Figure 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Departments Page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Department creation &amp; CRUD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Figure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Admin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Front-end design &amp; KPI layout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0040" y="164592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"/>
            <a:ext cx="1417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2377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dirty="0"/>
              <a:t>05 —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rPr dirty="0"/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3F2FD"/>
                </a:solidFill>
              </a:defRPr>
            </a:pPr>
            <a:r>
              <a:rPr dirty="0"/>
              <a:t>APA 7th Edition — Bibliography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E3F2FD"/>
                </a:solidFill>
              </a:defRPr>
            </a:pPr>
            <a:r>
              <a:t>AutoRepairAgent  |  Progress Report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143000"/>
            <a:ext cx="813816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1325880"/>
            <a:ext cx="7589520" cy="277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400"/>
              </a:spcAft>
              <a:defRPr sz="1200">
                <a:solidFill>
                  <a:srgbClr val="212121"/>
                </a:solidFill>
              </a:defRPr>
            </a:pPr>
            <a:r>
              <a:rPr dirty="0"/>
              <a:t>1.    Express.js. (n.d.). Express documentation. https://expressjs.com</a:t>
            </a:r>
          </a:p>
          <a:p>
            <a:pPr>
              <a:lnSpc>
                <a:spcPct val="140000"/>
              </a:lnSpc>
              <a:spcAft>
                <a:spcPts val="1400"/>
              </a:spcAft>
              <a:defRPr sz="1200">
                <a:solidFill>
                  <a:srgbClr val="212121"/>
                </a:solidFill>
              </a:defRPr>
            </a:pPr>
            <a:r>
              <a:rPr dirty="0"/>
              <a:t>2.    Martin, R. C. (2017). Clean architecture: A craftsman's guide to software structure and design. Prentice Hall.</a:t>
            </a:r>
          </a:p>
          <a:p>
            <a:pPr>
              <a:lnSpc>
                <a:spcPct val="140000"/>
              </a:lnSpc>
              <a:spcAft>
                <a:spcPts val="1400"/>
              </a:spcAft>
              <a:defRPr sz="1200">
                <a:solidFill>
                  <a:srgbClr val="212121"/>
                </a:solidFill>
              </a:defRPr>
            </a:pPr>
            <a:r>
              <a:rPr dirty="0"/>
              <a:t>3.    Meta Platforms, Inc. (2024). React documentation. https://react.dev</a:t>
            </a:r>
          </a:p>
          <a:p>
            <a:pPr>
              <a:lnSpc>
                <a:spcPct val="140000"/>
              </a:lnSpc>
              <a:spcAft>
                <a:spcPts val="1400"/>
              </a:spcAft>
              <a:defRPr sz="1200">
                <a:solidFill>
                  <a:srgbClr val="212121"/>
                </a:solidFill>
              </a:defRPr>
            </a:pPr>
            <a:r>
              <a:rPr dirty="0"/>
              <a:t>4.    OWASP Foundation. (2021). Authentication cheat sheet. https://cheatsheetseries.owasp.org/cheatsheets/Authentication_Cheat_Sheet.html</a:t>
            </a:r>
          </a:p>
          <a:p>
            <a:pPr>
              <a:lnSpc>
                <a:spcPct val="140000"/>
              </a:lnSpc>
              <a:spcAft>
                <a:spcPts val="1400"/>
              </a:spcAft>
              <a:defRPr sz="1200">
                <a:solidFill>
                  <a:srgbClr val="212121"/>
                </a:solidFill>
              </a:defRPr>
            </a:pPr>
            <a:r>
              <a:rPr dirty="0"/>
              <a:t>5.    Prisma Data, Inc. (2024). Prisma ORM documentation. https://www.prisma.io/docs</a:t>
            </a:r>
          </a:p>
          <a:p>
            <a:pPr>
              <a:lnSpc>
                <a:spcPct val="140000"/>
              </a:lnSpc>
              <a:spcAft>
                <a:spcPts val="1400"/>
              </a:spcAft>
              <a:defRPr sz="1200">
                <a:solidFill>
                  <a:srgbClr val="212121"/>
                </a:solidFill>
              </a:defRPr>
            </a:pPr>
            <a:r>
              <a:rPr dirty="0"/>
              <a:t>6.    Sommerville, I. (2016). Software engineering (10th ed.). Pearson.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16161"/>
                </a:solidFill>
              </a:defRPr>
            </a:pPr>
            <a:r>
              <a:t>Note: In-text citations throughout this presentation follow APA 7th edition author-date format.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1776</Words>
  <Application>Microsoft Office PowerPoint</Application>
  <PresentationFormat>On-screen Show (4:3)</PresentationFormat>
  <Paragraphs>313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Prathap Hasitha Wickramage</cp:lastModifiedBy>
  <cp:revision>5</cp:revision>
  <dcterms:created xsi:type="dcterms:W3CDTF">2013-01-27T09:14:16Z</dcterms:created>
  <dcterms:modified xsi:type="dcterms:W3CDTF">2026-07-08T12:35:46Z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2026-07-08T04:58:07Z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be9db873-6b18-4120-a909-8ba908cda551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