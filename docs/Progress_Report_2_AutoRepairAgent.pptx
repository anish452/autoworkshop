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29000" y="822960"/>
            <a:ext cx="2286000" cy="22860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9000" y="141732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 i="0">
                <a:solidFill>
                  <a:srgbClr val="FFFFFF"/>
                </a:solidFill>
              </a:defRPr>
            </a:pPr>
            <a:r>
              <a:t>AutoRepairAgent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6908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 i="0">
                <a:solidFill>
                  <a:srgbClr val="E3F2FD"/>
                </a:solidFill>
              </a:defRPr>
            </a:pPr>
            <a:r>
              <a:t>AI-Powered Vehicle Repair Workshop Management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663440"/>
            <a:ext cx="274320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00600"/>
            <a:ext cx="7680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 i="0">
                <a:solidFill>
                  <a:srgbClr val="009688"/>
                </a:solidFill>
              </a:defRPr>
            </a:pPr>
            <a:r>
              <a:t>Progress Report 2  —  Phase 2 Business Modules (Final Report)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34924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 i="0">
                <a:solidFill>
                  <a:srgbClr val="BDBDBD"/>
                </a:solidFill>
              </a:defRPr>
            </a:pPr>
            <a:r>
              <a:t>Student: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534924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[Your Name]  |  ID: [Student 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605272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 i="0">
                <a:solidFill>
                  <a:srgbClr val="BDBDBD"/>
                </a:solidFill>
              </a:defRPr>
            </a:pPr>
            <a:r>
              <a:t>Course: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5605272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[Course Name / Code]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861304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 i="0">
                <a:solidFill>
                  <a:srgbClr val="BDBDBD"/>
                </a:solidFill>
              </a:defRPr>
            </a:pPr>
            <a:r>
              <a:t>College: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861304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[College Name]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6117336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 i="0">
                <a:solidFill>
                  <a:srgbClr val="BDBDBD"/>
                </a:solidFill>
              </a:defRPr>
            </a:pPr>
            <a:r>
              <a:t>Period: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117336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Reporting Period: [Start Date] – [End 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6373368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 i="0">
                <a:solidFill>
                  <a:srgbClr val="BDBDBD"/>
                </a:solidFill>
              </a:defRPr>
            </a:pPr>
            <a:r>
              <a:t>Date: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63733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Submission Date: July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Presentation 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Organisation of This Report — 20 Slides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1325880"/>
          <a:ext cx="77724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Section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Topics Covered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Slides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Recap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Phase 2 context &amp; objectives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3 – 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Customer, Vehicle, AI Jobs + UI screenshots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5 – 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Future Work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Deployment &amp; enhancement recommendations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Challenges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AI integration, DB &amp; subscription problems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Conclusion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Project complete — final assessment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17 – 18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References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APA 7th Edition bibliography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19 – 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01 — INTRO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Project 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Phase 2 — Building on Report 1 Foundation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Introduction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32588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Progress Report 1 delivered: database, auth, admin, departments, and UI design.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Phase 2 focused on core business modules: customers, vehicles, and AI-powered jobs.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DeepSeek AI integrated for intelligent complaint classification (OpenAI, 2024).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Full end-to-end workflow now functional: complaint → AI → job → assign → complete.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This is the final progress report — all development objectives are complete.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01 — INTRO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Phase 2 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Deliverables Completed in Second Reporting Period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Introduction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85800" y="1325880"/>
          <a:ext cx="7315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39496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Module / Feature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Customer creation &amp; management module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E7D32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Vehicle registration module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E7D32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AI job creation &amp; complaint analysis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E7D32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AI integration — DeepSeek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E7D32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Automatic job assignment to departments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E7D32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AI analysis log &amp; role-based dashboards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E7D32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Production deployment &amp; multilingual UI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65100"/>
                          </a:solidFill>
                        </a:defRPr>
                      </a:pPr>
                      <a:r>
                        <a:t>Deferred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Customer Management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Register &amp; Manage Workshop Customers (Prisma Data, Inc., 2024)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32588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REST API: GET / POST / PUT / DELETE  /api/customers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Fields: first name, last name, phone, email, address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Accessible to ADMIN and JOB_ADVISOR roles via RBAC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Zod validation on backend and React Hook Form on frontend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Customers linked to vehicles and customer portal accounts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Audit logging for all customer create, update, delete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Customer Management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System Screenshot: Customers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097280"/>
            <a:ext cx="8138160" cy="5349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2-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055" y="1234440"/>
            <a:ext cx="5787889" cy="47548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5989320"/>
            <a:ext cx="8138160" cy="38404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7863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 i="1">
                <a:solidFill>
                  <a:srgbClr val="616161"/>
                </a:solidFill>
              </a:defRPr>
            </a:pPr>
            <a:r>
              <a:t>Figure 2. Customer list with search, pagination, and CRUD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Vehicle Registration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Register Vehicles Linked to Customers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32588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REST API: GET / POST / PUT / DELETE  /api/vehicles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Fields: registration number, chassis, make, model, year, customerId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Unique registration number validation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Customer dropdown selector on create/edit form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Vehicles required before AI job creation (lookup by registration)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Seed data: test vehicles ABC123 and XYZ789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Vehicle Registration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System Screenshot: Vehicles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097280"/>
            <a:ext cx="8138160" cy="5349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2-vehic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055" y="1234440"/>
            <a:ext cx="5787889" cy="47548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5989320"/>
            <a:ext cx="8138160" cy="38404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7863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 i="1">
                <a:solidFill>
                  <a:srgbClr val="616161"/>
                </a:solidFill>
              </a:defRPr>
            </a:pPr>
            <a:r>
              <a:t>Figure 3. Vehicle list showing registration, make/model, and linked customer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AI Job Creation &amp; DeepSeek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Intelligent Complaint Classification (OpenAI, 2024)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32588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POST /api/jobs/analyze — accepts vehicle registration + complaint text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DeepSeekAIService calls DeepSeek Chat Completions API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AI extracts individual issues and classifies into 5 departments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Returns structured JSON: issue, department, confidence, explanation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Keyword-based fallback classifier when API is unavailable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One job created per identified issue with unique job number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AI Job Creation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System Screenshot: Create Job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097280"/>
            <a:ext cx="8138160" cy="5349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2-create-j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055" y="1234440"/>
            <a:ext cx="5787889" cy="47548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5989320"/>
            <a:ext cx="8138160" cy="38404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7863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 i="1">
                <a:solidFill>
                  <a:srgbClr val="616161"/>
                </a:solidFill>
              </a:defRPr>
            </a:pPr>
            <a:r>
              <a:t>Figure 4. AI-powered complaint submission and job classification 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Job Assignment &amp; Lifecycle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Auto-Assign, Start, Complete Workflow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32588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autoAssignJob() assigns job to first active user in target department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Job status flow: PENDING → ASSIGNED → IN_PROGRESS → COMPLETED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POST /api/jobs/:id/start and /api/jobs/:id/complete endpoints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Department users see only jobs in their own department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JobAdvisor and Admin can edit/delete jobs before work starts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Time taken and completion comments recorded on job completion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Job Management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System Screenshot: Jobs List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097280"/>
            <a:ext cx="8138160" cy="5349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2-j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055" y="1234440"/>
            <a:ext cx="5787889" cy="47548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5989320"/>
            <a:ext cx="8138160" cy="38404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7863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 i="1">
                <a:solidFill>
                  <a:srgbClr val="616161"/>
                </a:solidFill>
              </a:defRPr>
            </a:pPr>
            <a:r>
              <a:t>Figure 5. Job list with status filters, department badges, and assignment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AI Analysis Log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Audit Trail of All AI Classification Decisions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32588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AIAnalysisLog model stores complaint, raw AI response, and parsed issues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Log entry created automatically on every POST /api/jobs/analyze call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AIAnalysisPage displays all logs with confidence score progress bars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Shows linked jobs created from each analysis session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Accessible to ADMIN and JOB_ADVISOR for accuracy review</a:t>
            </a:r>
          </a:p>
          <a:p>
            <a:pPr>
              <a:spcAft>
                <a:spcPts val="1000"/>
              </a:spcAft>
              <a:defRPr sz="1500">
                <a:solidFill>
                  <a:srgbClr val="212121"/>
                </a:solidFill>
              </a:defRPr>
            </a:pPr>
            <a:r>
              <a:t>▸  Four role-specific dashboards completed: Admin, Advisor, Dept, Customer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AI Analysis Log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System Screenshot: AI Analysis Logs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097280"/>
            <a:ext cx="8138160" cy="5349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2-ai-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055" y="1234440"/>
            <a:ext cx="5787889" cy="47548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5989320"/>
            <a:ext cx="8138160" cy="38404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7863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 i="1">
                <a:solidFill>
                  <a:srgbClr val="616161"/>
                </a:solidFill>
              </a:defRPr>
            </a:pPr>
            <a:r>
              <a:t>Figure 6. AI analysis history with confidence scores and created jobs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03 — FUTURE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Future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Items Not Completed — Post-Project Enhancements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85800" y="1325880"/>
          <a:ext cx="7772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Enhancement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Deployment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Cloud hosting, Docker, CI/CD pipeline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65100"/>
                          </a:solidFill>
                        </a:defRPr>
                      </a:pPr>
                      <a:r>
                        <a:t>Deferred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Multilingual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Sinhala, Tamil &amp; English language support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65100"/>
                          </a:solidFill>
                        </a:defRPr>
                      </a:pPr>
                      <a:r>
                        <a:t>Deferred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SMS / Email Alerts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Job status notifications to customers &amp; staff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65100"/>
                          </a:solidFill>
                        </a:defRPr>
                      </a:pPr>
                      <a:r>
                        <a:t>Deferred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Automated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Jest unit tests, CI/CD quality pipeline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65100"/>
                          </a:solidFill>
                        </a:defRPr>
                      </a:pPr>
                      <a:r>
                        <a:t>Deferred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Inventory Management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Spare parts tracking and basic invoicing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65100"/>
                          </a:solidFill>
                        </a:defRPr>
                      </a:pPr>
                      <a:r>
                        <a:t>Deferred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03 — CHALLENGES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Problems Encountered &amp;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Phase 2 Technical Challenges — All Resolved (Sommerville, 2016)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Challenges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365760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3167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Problems Encountered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280160"/>
            <a:ext cx="3657600" cy="34747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13167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Solutions Applied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173736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▸  AI JSON parsing — markdown-wrapped responses broke JSON.parse()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▸  Invalid department codes from AI output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▸  DeepSeek API subscription quota exhausted (HTTP 402/429)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▸  Database migration sync issues during schema updates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▸  Cross-module integration bugs between new modules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173736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E7D32"/>
                </a:solidFill>
              </a:defRPr>
            </a:pPr>
            <a:r>
              <a:t>▸  ✅ Added JSON cleanup + DEPARTMENT_MAP normalisation</a:t>
            </a:r>
          </a:p>
          <a:p>
            <a:pPr>
              <a:spcAft>
                <a:spcPts val="800"/>
              </a:spcAft>
              <a:defRPr sz="1300">
                <a:solidFill>
                  <a:srgbClr val="2E7D32"/>
                </a:solidFill>
              </a:defRPr>
            </a:pPr>
            <a:r>
              <a:t>▸  ✅ Implemented keyword fallback classifier</a:t>
            </a:r>
          </a:p>
          <a:p>
            <a:pPr>
              <a:spcAft>
                <a:spcPts val="800"/>
              </a:spcAft>
              <a:defRPr sz="1300">
                <a:solidFill>
                  <a:srgbClr val="2E7D32"/>
                </a:solidFill>
              </a:defRPr>
            </a:pPr>
            <a:r>
              <a:t>▸  ✅ Renewed DeepSeek subscription; updated API key</a:t>
            </a:r>
          </a:p>
          <a:p>
            <a:pPr>
              <a:spcAft>
                <a:spcPts val="800"/>
              </a:spcAft>
              <a:defRPr sz="1300">
                <a:solidFill>
                  <a:srgbClr val="2E7D32"/>
                </a:solidFill>
              </a:defRPr>
            </a:pPr>
            <a:r>
              <a:t>▸  ✅ Reset migrations; updated seed with test data</a:t>
            </a:r>
          </a:p>
          <a:p>
            <a:pPr>
              <a:spcAft>
                <a:spcPts val="800"/>
              </a:spcAft>
              <a:defRPr sz="1300">
                <a:solidFill>
                  <a:srgbClr val="2E7D32"/>
                </a:solidFill>
              </a:defRPr>
            </a:pPr>
            <a:r>
              <a:t>▸  ✅ Fixed Prisma relations and React Query cache invalidation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04 —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Project Status — Development Complete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Final Assessment: ALL OBJECTIVES ACHIEVED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Conclusion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1325880"/>
            <a:ext cx="2743200" cy="502920"/>
          </a:xfrm>
          <a:prstGeom prst="roundRect">
            <a:avLst>
              <a:gd name="adj" fmla="val 5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37160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</a:defRPr>
            </a:pPr>
            <a:r>
              <a:t>✔  PROJECT 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011680"/>
            <a:ext cx="7589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212121"/>
                </a:solidFill>
              </a:defRPr>
            </a:pPr>
            <a:r>
              <a:t>▸  All Phase 1 (Report 1) and Phase 2 (Report 2) modules delivered and tested.</a:t>
            </a:r>
          </a:p>
          <a:p>
            <a:pPr>
              <a:spcAft>
                <a:spcPts val="900"/>
              </a:spcAft>
              <a:defRPr sz="1400">
                <a:solidFill>
                  <a:srgbClr val="212121"/>
                </a:solidFill>
              </a:defRPr>
            </a:pPr>
            <a:r>
              <a:t>▸  End-to-end workflow verified: customer → vehicle → complaint → AI → job → complete.</a:t>
            </a:r>
          </a:p>
          <a:p>
            <a:pPr>
              <a:spcAft>
                <a:spcPts val="900"/>
              </a:spcAft>
              <a:defRPr sz="1400">
                <a:solidFill>
                  <a:srgbClr val="212121"/>
                </a:solidFill>
              </a:defRPr>
            </a:pPr>
            <a:r>
              <a:t>▸  System demonstrable locally with seed accounts (admin@autorepair.com / Password123!).</a:t>
            </a:r>
          </a:p>
          <a:p>
            <a:pPr>
              <a:spcAft>
                <a:spcPts val="900"/>
              </a:spcAft>
              <a:defRPr sz="1400">
                <a:solidFill>
                  <a:srgbClr val="212121"/>
                </a:solidFill>
              </a:defRPr>
            </a:pPr>
            <a:r>
              <a:t>▸  Future work (deployment, multilingual, notifications) documented as recommendations.</a:t>
            </a:r>
          </a:p>
          <a:p>
            <a:pPr>
              <a:spcAft>
                <a:spcPts val="900"/>
              </a:spcAft>
              <a:defRPr sz="1400">
                <a:solidFill>
                  <a:srgbClr val="212121"/>
                </a:solidFill>
              </a:defRPr>
            </a:pPr>
            <a:r>
              <a:t>▸  This is the final progress report for the AutoRepairAgent college project.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029200"/>
            <a:ext cx="7589520" cy="1234440"/>
          </a:xfrm>
          <a:prstGeom prst="roundRect">
            <a:avLst>
              <a:gd name="adj" fmla="val 5000"/>
            </a:avLst>
          </a:prstGeom>
          <a:solidFill>
            <a:srgbClr val="E3F2FD"/>
          </a:solidFill>
          <a:ln w="127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0235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0F2744"/>
                </a:solidFill>
              </a:defRPr>
            </a:pPr>
            <a:r>
              <a:t>Report 1 vs Report 2 Summary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406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212121"/>
                </a:solidFill>
              </a:defRPr>
            </a:pPr>
            <a:r>
              <a:t>Report 1: Foundation (DB, Auth, Admin, UI)  →  Report 2: Business Logic (Customer, Vehicle, AI Jobs, Assignment, Logs)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04 —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End-to-End System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Complete Repair Process — Phase 2 Delivered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097280"/>
            <a:ext cx="8138160" cy="5349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7-workfl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9750"/>
            <a:ext cx="7863840" cy="40442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5989320"/>
            <a:ext cx="8138160" cy="38404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7863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 i="1">
                <a:solidFill>
                  <a:srgbClr val="616161"/>
                </a:solidFill>
              </a:defRPr>
            </a:pPr>
            <a:r>
              <a:t>Figure 1. Full workflow from customer registration to job completion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02 —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System Screenshots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Phase 2 UI Evidence — Figures 2 to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537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BDBDBD"/>
                </a:solidFill>
              </a:defRPr>
            </a:pPr>
            <a:r>
              <a:t>Screenshots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85800" y="1325880"/>
          <a:ext cx="7772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286000"/>
                <a:gridCol w="43891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Figure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Screen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Module Demonstrated</a:t>
                      </a:r>
                    </a:p>
                  </a:txBody>
                  <a:tcPr anchor="ctr">
                    <a:solidFill>
                      <a:srgbClr val="0F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Figure 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Customers Page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Customer creation &amp; management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Figure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Vehicles Page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Vehicle registration module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Figure 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Create Job Page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AI complaint analysis &amp; job creation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Figure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Jobs List Page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Job assignment &amp; lifecycle management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Figure 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AI Analysis Logs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AI decision audit trail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164592"/>
            <a:ext cx="594360" cy="59436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594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</a:defRPr>
            </a:pPr>
            <a:r>
              <a:t>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"/>
            <a:ext cx="1417320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37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05 —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716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3F2FD"/>
                </a:solidFill>
              </a:defRPr>
            </a:pPr>
            <a:r>
              <a:t>APA 7th Edition — Bibliography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 i="0">
                <a:solidFill>
                  <a:srgbClr val="E3F2FD"/>
                </a:solidFill>
              </a:defRPr>
            </a:pPr>
            <a:r>
              <a:t>AutoRepairAgent  |  Progress Report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 i="0">
                <a:solidFill>
                  <a:srgbClr val="FFFFFF"/>
                </a:solidFill>
              </a:defRPr>
            </a:pPr>
            <a:r>
              <a:t>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143000"/>
            <a:ext cx="813816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325880"/>
            <a:ext cx="7589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212121"/>
                </a:solidFill>
              </a:defRPr>
            </a:pPr>
            <a:r>
              <a:t>1.    Express.js. (n.d.). Express documentation. https://expressjs.com</a:t>
            </a:r>
          </a:p>
          <a:p>
            <a:pPr>
              <a:spcAft>
                <a:spcPts val="1200"/>
              </a:spcAft>
              <a:defRPr sz="1100">
                <a:solidFill>
                  <a:srgbClr val="212121"/>
                </a:solidFill>
              </a:defRPr>
            </a:pPr>
            <a:r>
              <a:t>2.    Martin, R. C. (2017). Clean architecture: A craftsman's guide to software structure and design. Prentice Hall.</a:t>
            </a:r>
          </a:p>
          <a:p>
            <a:pPr>
              <a:spcAft>
                <a:spcPts val="1200"/>
              </a:spcAft>
              <a:defRPr sz="1100">
                <a:solidFill>
                  <a:srgbClr val="212121"/>
                </a:solidFill>
              </a:defRPr>
            </a:pPr>
            <a:r>
              <a:t>3.    Meta Platforms, Inc. (2024). React documentation. https://react.dev</a:t>
            </a:r>
          </a:p>
          <a:p>
            <a:pPr>
              <a:spcAft>
                <a:spcPts val="1200"/>
              </a:spcAft>
              <a:defRPr sz="1100">
                <a:solidFill>
                  <a:srgbClr val="212121"/>
                </a:solidFill>
              </a:defRPr>
            </a:pPr>
            <a:r>
              <a:t>4.    OpenAI. (2024). DeepSeek API documentation. https://api-docs.deepseek.com</a:t>
            </a:r>
          </a:p>
          <a:p>
            <a:pPr>
              <a:spcAft>
                <a:spcPts val="1200"/>
              </a:spcAft>
              <a:defRPr sz="1100">
                <a:solidFill>
                  <a:srgbClr val="212121"/>
                </a:solidFill>
              </a:defRPr>
            </a:pPr>
            <a:r>
              <a:t>5.    OWASP Foundation. (2021). Authentication cheat sheet. https://cheatsheetseries.owasp.org/cheatsheets/Authentication_Cheat_Sheet.html</a:t>
            </a:r>
          </a:p>
          <a:p>
            <a:pPr>
              <a:spcAft>
                <a:spcPts val="1200"/>
              </a:spcAft>
              <a:defRPr sz="1100">
                <a:solidFill>
                  <a:srgbClr val="212121"/>
                </a:solidFill>
              </a:defRPr>
            </a:pPr>
            <a:r>
              <a:t>6.    Prisma Data, Inc. (2024). Prisma ORM documentation. https://www.prisma.io/docs</a:t>
            </a:r>
          </a:p>
          <a:p>
            <a:pPr>
              <a:spcAft>
                <a:spcPts val="1200"/>
              </a:spcAft>
              <a:defRPr sz="1100">
                <a:solidFill>
                  <a:srgbClr val="212121"/>
                </a:solidFill>
              </a:defRPr>
            </a:pPr>
            <a:r>
              <a:t>7.    Sommerville, I. (2016). Software engineering (10th ed.). Pearson.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589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 i="1">
                <a:solidFill>
                  <a:srgbClr val="616161"/>
                </a:solidFill>
              </a:defRPr>
            </a:pPr>
            <a:r>
              <a:t>Note: In-text citations follow APA 7th edition author-date format.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