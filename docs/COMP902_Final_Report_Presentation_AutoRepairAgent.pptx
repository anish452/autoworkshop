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9688"/>
                </a:solidFill>
                <a:latin typeface="Calibri"/>
              </a:rPr>
              <a:t>Auckland Institute of Studies  |  Trimester 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858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AutoRepairAgent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F1F5F9"/>
                </a:solidFill>
                <a:latin typeface="Calibri"/>
              </a:rPr>
              <a:t>AI-Powered Vehicle Repair Workshop</a:t>
            </a:r>
          </a:p>
          <a:p>
            <a: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688"/>
                </a:solidFill>
                <a:latin typeface="Calibri"/>
              </a:rPr>
              <a:t>COMP902 — Advanced Information Technology Specialised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6400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Student: [Your Full Name]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Student ID: [Your Student ID]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Supervisor: [Supervisor Name]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Due: 5 p.m. Wednesday 12th August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051560"/>
            <a:ext cx="42062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-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4114800" cy="2468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520" y="362102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JWT authentication — role-based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Presentation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Aligned to COMP902 Final Report body sections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2 of 25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1325880"/>
            <a:ext cx="384048" cy="38404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62456"/>
            <a:ext cx="3840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25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B46"/>
                </a:solidFill>
                <a:latin typeface="Calibri"/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184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Background, motivation, problem statement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2039112"/>
            <a:ext cx="384048" cy="38404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75688"/>
            <a:ext cx="3840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391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B46"/>
                </a:solidFill>
                <a:latin typeface="Calibri"/>
              </a:rPr>
              <a:t>Literature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317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WMS, AI/NLP, architecture, RBAC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2752344"/>
            <a:ext cx="384048" cy="38404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788920"/>
            <a:ext cx="3840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75234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B46"/>
                </a:solidFill>
                <a:latin typeface="Calibri"/>
              </a:rPr>
              <a:t>Scope &amp; 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44951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Phase 1 &amp; 2 deliverables, boundaries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3465576"/>
            <a:ext cx="384048" cy="38404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502152"/>
            <a:ext cx="3840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6557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B46"/>
                </a:solidFill>
                <a:latin typeface="Calibri"/>
              </a:rPr>
              <a:t>Methodology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5818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Phased development, tech stack, verification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4178808"/>
            <a:ext cx="384048" cy="38404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215384"/>
            <a:ext cx="3840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1788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B46"/>
                </a:solidFill>
                <a:latin typeface="Calibri"/>
              </a:rPr>
              <a:t>Results &amp; Outcomes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7141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UI modules, AI workflow, metrics</a:t>
            </a:r>
          </a:p>
        </p:txBody>
      </p:sp>
      <p:sp>
        <p:nvSpPr>
          <p:cNvPr id="29" name="Oval 28"/>
          <p:cNvSpPr/>
          <p:nvPr/>
        </p:nvSpPr>
        <p:spPr>
          <a:xfrm>
            <a:off x="411480" y="4892040"/>
            <a:ext cx="384048" cy="38404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928616"/>
            <a:ext cx="3840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892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B46"/>
                </a:solidFill>
                <a:latin typeface="Calibri"/>
              </a:rPr>
              <a:t>Discussion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1846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Objective alignment, limitations, lessons</a:t>
            </a:r>
          </a:p>
        </p:txBody>
      </p:sp>
      <p:sp>
        <p:nvSpPr>
          <p:cNvPr id="33" name="Oval 32"/>
          <p:cNvSpPr/>
          <p:nvPr/>
        </p:nvSpPr>
        <p:spPr>
          <a:xfrm>
            <a:off x="411480" y="5605272"/>
            <a:ext cx="384048" cy="38404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641848"/>
            <a:ext cx="3840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60527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B46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8978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Contributions, roadmap, Q&amp;A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41732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Presentation Rubric Focus Areas: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✓  Clear purpose from the outset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✓  Logical sequence matching report body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✓  Professional visual aids (live UI screenshots)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✓  Prepared Q&amp;A to stimulate discussion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611880"/>
            <a:ext cx="5394959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05-admin-dashboard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5303520" cy="228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00800" y="599846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Live system — Admin KPI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9688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231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Background, motivation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COMP902 Final Report  |  AutoRepairAgent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Why AI-assisted workshop management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4 of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Vehicle repair workshops rely on manual triage and paper job cards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  Inconsistent routing delays repairs and reduces transparency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Staff coordinate via phone — limited audit trail for decisions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Motivation: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• Operational — faster complaint-to-department classification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• Academic — Master's-level full-stack + AI integration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• Technical — Clean Architecture with LLM-assisted triage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486400" cy="35204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-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394960" cy="3017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4398264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Secure login — gateway to role-based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Four core challenges addressed by AutoRepairAgent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5 of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71600"/>
            <a:ext cx="11430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72768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88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4813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Manual complaint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810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Unstructured descriptions cause misrouting between departments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514600"/>
            <a:ext cx="11430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15768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88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243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No AI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53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Classification decisions not logged or explainable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57600"/>
            <a:ext cx="11430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58768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88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7673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Fragmented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96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Eight roles need least-privilege data visibility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800600"/>
            <a:ext cx="11430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001768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688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103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No end-to-end digital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39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Customer → vehicle → job → completion not integrated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9688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Critical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231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Positioning the project in academic &amp; industry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COMP902 Final Report  |  AutoRepairAgent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Literature Review — Key Themes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Five domains reviewed; research gap identified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7 of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Workshop Management Systems — digitise intake, scheduling, job tracking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AI/NLP in Service Triage — LLM complaint parsing (Amershi et al., 2019)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REST + SPA Architecture — Fielding (2000); Newman (2021)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Clean Architecture — maintainable separation of concerns (Martin, 2017)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RBAC Security — least-privilege access (Sandhu &amp; Samarati, 1994)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F2B46"/>
                </a:solidFill>
                <a:latin typeface="Calibri"/>
              </a:rPr>
              <a:t>Research Gap: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2B46"/>
                </a:solidFill>
                <a:latin typeface="Calibri"/>
              </a:rPr>
              <a:t>Affordable AI-integrated WMS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2B46"/>
                </a:solidFill>
                <a:latin typeface="Calibri"/>
              </a:rPr>
              <a:t>for small/medium workshops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2B46"/>
                </a:solidFill>
                <a:latin typeface="Calibri"/>
              </a:rPr>
              <a:t>lacking enterprise ERP budgets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2B46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2B46"/>
                </a:solidFill>
                <a:latin typeface="Calibri"/>
              </a:rPr>
              <a:t>6 academic references cited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2B46"/>
                </a:solidFill>
                <a:latin typeface="Calibri"/>
              </a:rPr>
              <a:t>(APA 7th edition)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03320"/>
            <a:ext cx="5394959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2-create-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749039"/>
            <a:ext cx="530352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60" y="599846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AI complaint classification — DeepSeek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9688"/>
                </a:solidFill>
                <a:latin typeface="Calibri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Scope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231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Project goals, success criteria &amp;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COMP902 Final Report  |  AutoRepairAgent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Six specific objectives — core items achieved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9 of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63039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688"/>
                </a:solidFill>
                <a:latin typeface="Calibri"/>
              </a:rPr>
              <a:t>O1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435607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Authentication &amp;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7830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JWT + 8 roles, protected routes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39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688"/>
                </a:solidFill>
                <a:latin typeface="Calibri"/>
              </a:rPr>
              <a:t>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435607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Admin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7830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Users, departments, dashboards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743200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880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688"/>
                </a:solidFill>
                <a:latin typeface="Calibri"/>
              </a:rPr>
              <a:t>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85292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Customer &amp; vehicle CRUD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Linked records for job creation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743200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880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688"/>
                </a:solidFill>
                <a:latin typeface="Calibri"/>
              </a:rPr>
              <a:t>O4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85292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AI job classification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DeepSeek + keyword fallback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160520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2976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688"/>
                </a:solidFill>
                <a:latin typeface="Calibri"/>
              </a:rPr>
              <a:t>O5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2702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Job lifecycle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6177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Create, assign, track, complete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160520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2976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688"/>
                </a:solidFill>
                <a:latin typeface="Calibri"/>
              </a:rPr>
              <a:t>O6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2702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AI audit logging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6177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Confidence scores &amp; explanations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Project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In scope vs deferred — Master's-level boundaries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10 of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In Scope: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• Full-stack web app (React + Node.js + PostgreSQL)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• 34 REST API endpoints, 10 database tables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• AI complaint classification with audit trail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• Role-based dashboards for 4 user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45A00"/>
                </a:solidFill>
                <a:latin typeface="Calibri"/>
              </a:rPr>
              <a:t>Out of Scope (Deferred):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B45A00"/>
                </a:solidFill>
                <a:latin typeface="Calibri"/>
              </a:rPr>
              <a:t>• Production cloud deployment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B45A00"/>
                </a:solidFill>
                <a:latin typeface="Calibri"/>
              </a:rPr>
              <a:t>• Sinhala/Tamil UI localisation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B45A00"/>
                </a:solidFill>
                <a:latin typeface="Calibri"/>
              </a:rPr>
              <a:t>• Automated unit/E2E test suite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B45A00"/>
                </a:solidFill>
                <a:latin typeface="Calibri"/>
              </a:rPr>
              <a:t>• Inventory, invoicing, SMS notifications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94760"/>
            <a:ext cx="5394959" cy="26060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-users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840480"/>
            <a:ext cx="530352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60" y="599846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9 system users — RBAC role assignments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9688"/>
                </a:solidFill>
                <a:latin typeface="Calibri"/>
              </a:rPr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231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Development approach, technology &amp;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COMP902 Final Report  |  AutoRepairAgent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Development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Phased iterative — reproducible from 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12 of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Approach: Phased iterative across two progress reports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Phase 1 — Foundation: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  Database, auth, admin, departments, UI design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Phase 2 — Business Modules: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  Customers, vehicles, AI jobs, assignment, AI log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Verification: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  Postman API tests, seed data, manual E2E workflow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  Live UI screenshots captured from running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486400" cy="35204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394960" cy="3017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4398264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Clean Architecture — three-tier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Justified selections — full-stack monorepo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13 of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325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React 18, Vite, MUI, React Router, Axios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09928"/>
            <a:ext cx="5669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3055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1305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Node.js Express, JWT + bcrypt, Zod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14600"/>
            <a:ext cx="5669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3522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93522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PostgreSQL + Prisma ORM — 10 tables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19272"/>
            <a:ext cx="5669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39896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7398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DeepSeek API with keyword fallback classifier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23944"/>
            <a:ext cx="5669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5445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4456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Helmet, CORS, rate limiting, RBAC middleware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28616"/>
            <a:ext cx="566928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3492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349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Clean Architecture + Repository pattern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1280160"/>
            <a:ext cx="5394959" cy="35204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7-workflow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303520" cy="30175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0" y="439826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End-to-end workflow: complaint → AI → job → completion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9688"/>
                </a:solidFill>
                <a:latin typeface="Calibri"/>
              </a:rPr>
              <a:t>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Results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231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Clear, well-explained deliverables — 15 marks criterion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COMP902 Final Report  |  AutoRepairAgent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Results Overview — Key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All core objectives substantially achieved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15 of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1828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18288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35607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2B46"/>
                </a:solidFill>
                <a:latin typeface="Calibri"/>
              </a:rPr>
              <a:t>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74519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API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1325880"/>
            <a:ext cx="1828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1325880"/>
            <a:ext cx="18288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1435607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2B46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1874519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DB 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325880"/>
            <a:ext cx="1828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325880"/>
            <a:ext cx="18288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435607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2B46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874519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User 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560320"/>
            <a:ext cx="1828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560320"/>
            <a:ext cx="18288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70048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2B46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108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Departments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2560320"/>
            <a:ext cx="1828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2560320"/>
            <a:ext cx="18288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2670048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2B46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108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Test Jobs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2560320"/>
            <a:ext cx="1828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2560320"/>
            <a:ext cx="18288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670048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2B46"/>
                </a:solidFill>
                <a:latin typeface="Calibri"/>
              </a:rPr>
              <a:t>15+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108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UI Screens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93192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Verification: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Manual cross-role workflow testing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Seed data: John Smith (ABC123), Maria Garcia (XYZ789)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AI analysis log with confidence scores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Academic deliverables: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~20,000-word final report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Progress Reports 1 &amp; 2 with presentations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1280160"/>
            <a:ext cx="5394959" cy="35204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05-admin-dashboard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303520" cy="30175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00800" y="439826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Admin Dashboard — 7 jobs, 2 customers tracked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Phase 1 — Foundation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Authentication, admin &amp; user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16 of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234439"/>
            <a:ext cx="5669279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5577840" cy="2651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040" y="3986783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JWT Login — role-based 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34439"/>
            <a:ext cx="5669279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3-users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577840" cy="2651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72200" y="3986783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User Management — 9 users, 8 roles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114800"/>
            <a:ext cx="566927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5-admin-dashboard-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4160520"/>
            <a:ext cx="5577840" cy="1691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46120" y="5907024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Admin Dashboard — system-wide KPIs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Phase 2 — Business Module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Customer, vehicle &amp; job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17 of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234439"/>
            <a:ext cx="5669279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2-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5577840" cy="2651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040" y="3986783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Customer CRUD — 2 registered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34439"/>
            <a:ext cx="5669279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2-vehi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577840" cy="2651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72200" y="3986783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Vehicle Registration — linked to owners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114800"/>
            <a:ext cx="566927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2-jo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4160520"/>
            <a:ext cx="5577840" cy="1691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46120" y="5907024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Job List — department routing &amp; assignment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AI Integration —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DeepSeek classification with audit trail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18 of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234439"/>
            <a:ext cx="5669279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2-create-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5577840" cy="2651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040" y="3986783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Create Job — AI-powered complaint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34439"/>
            <a:ext cx="5669279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2-ai-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577840" cy="2651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72200" y="3986783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AI Analysis Log — confidence &amp; explanations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POST /api/jobs/analyze — complaint + vehicle registration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DeepSeek returns: issues[], department, confidence, explanation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Fallback keyword classifier when API unavailable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Example: engine noise → Mechanical; headlight → Electrical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9688"/>
                </a:solidFill>
                <a:latin typeface="Calibri"/>
              </a:rPr>
              <a:t>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231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Objective alignment, limitations &amp; lessons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COMP902 Final Report  |  AutoRepairAgent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Discussion — Strengths &amp;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Honest critical evaluation — criterion 9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20 of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Achievements: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All six objectives O1–O6 substantially achieved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Clean Architecture proved maintainable across phases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RBAC correctly filters data by role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AI audit trail supports accountability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Course experience: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npm dependency conflicts during setup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Prisma migration issues resolved iteratively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• DeepSeek API quota limitations encountered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64008" cy="91440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5A00"/>
                </a:solidFill>
                <a:latin typeface="Calibri"/>
              </a:rPr>
              <a:t>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49047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API dependence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801368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AI accuracy tied to DeepSeek availability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1460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514600"/>
            <a:ext cx="64008" cy="91440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5A00"/>
                </a:solidFill>
                <a:latin typeface="Calibri"/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5877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English-only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898648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Keyword classifier not multilingual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61188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611880"/>
            <a:ext cx="64008" cy="91440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7033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5A00"/>
                </a:solidFill>
                <a:latin typeface="Calibri"/>
              </a:rP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68503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No automated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995928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Manual verification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709159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709159"/>
            <a:ext cx="64008" cy="91440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800599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5A00"/>
                </a:solidFill>
                <a:latin typeface="Calibri"/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78231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2B46"/>
                </a:solidFill>
                <a:latin typeface="Calibri"/>
              </a:rPr>
              <a:t>Localhost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093207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Production deployment deferred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9688"/>
                </a:solidFill>
                <a:latin typeface="Calibri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231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Evidence-supported conclusions — criterion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COMP902 Final Report  |  AutoRepairAgent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Supported by evidence in Chapters 7 &amp; 8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22 of 25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1371600"/>
            <a:ext cx="274320" cy="2743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80744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32588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AutoRepairAgent delivers a working AI-integrated workshop management prototype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2121408"/>
            <a:ext cx="274320" cy="2743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13055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075688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DeepSeek LLM + fallback classifier enables complaint-to-department routing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2871215"/>
            <a:ext cx="274320" cy="2743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880360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25496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Clean Architecture supports maintainable full-stack development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3621024"/>
            <a:ext cx="274320" cy="2743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630168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75304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RBAC enforces appropriate access across 8 workshop roles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4370831"/>
            <a:ext cx="274320" cy="2743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379975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25112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Limitations are material but do not negate core objective achievement</a:t>
            </a:r>
          </a:p>
        </p:txBody>
      </p:sp>
      <p:sp>
        <p:nvSpPr>
          <p:cNvPr id="26" name="Oval 25"/>
          <p:cNvSpPr/>
          <p:nvPr/>
        </p:nvSpPr>
        <p:spPr>
          <a:xfrm>
            <a:off x="411480" y="5120640"/>
            <a:ext cx="274320" cy="2743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129783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System is demonstrable and ready for pilot evaluation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1280160"/>
            <a:ext cx="5394959" cy="35204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r2-ai-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303520" cy="30175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00800" y="439826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Evidence: AI audit trail with job linkage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56032"/>
            <a:ext cx="5029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743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Future Work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Prioritised recommendations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23 of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298448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38988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9688"/>
                </a:solidFill>
                <a:latin typeface="Calibri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3716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2B46"/>
                </a:solidFill>
                <a:latin typeface="Calibri"/>
              </a:rPr>
              <a:t>Cloud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682495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Azure/AWS production hosting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98448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38988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9688"/>
                </a:solidFill>
                <a:latin typeface="Calibri"/>
              </a:rPr>
              <a:t>F2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3716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2B46"/>
                </a:solidFill>
                <a:latin typeface="Calibri"/>
              </a:rPr>
              <a:t>Multilingual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682495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Sinhala/Tamil localisation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715768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80720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9688"/>
                </a:solidFill>
                <a:latin typeface="Calibri"/>
              </a:rPr>
              <a:t>F3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7889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2B46"/>
                </a:solidFill>
                <a:latin typeface="Calibri"/>
              </a:rPr>
              <a:t>Automated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099815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Jest + Playwright assertions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715768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80720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9688"/>
                </a:solidFill>
                <a:latin typeface="Calibri"/>
              </a:rPr>
              <a:t>F4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7889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2B46"/>
                </a:solidFill>
                <a:latin typeface="Calibri"/>
              </a:rPr>
              <a:t>SMS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099815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Job status alerts to customers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133087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224527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9688"/>
                </a:solidFill>
                <a:latin typeface="Calibri"/>
              </a:rPr>
              <a:t>F5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2062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2B46"/>
                </a:solidFill>
                <a:latin typeface="Calibri"/>
              </a:rPr>
              <a:t>Smart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517136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Load-balanced technician routing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133087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4224527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9688"/>
                </a:solidFill>
                <a:latin typeface="Calibri"/>
              </a:rPr>
              <a:t>F6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062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2B46"/>
                </a:solidFill>
                <a:latin typeface="Calibri"/>
              </a:rPr>
              <a:t>Inventory module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517136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Parts tracking &amp; invoicing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Questions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1F5F9"/>
                </a:solidFill>
                <a:latin typeface="Calibri"/>
              </a:rPr>
              <a:t>Prepared to stimulate examiner discussion — Rubric criterion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400800"/>
            <a:ext cx="118872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AutoRepairAgent Final Report  |  Slide 24 of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25880"/>
            <a:ext cx="11430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39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63039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F2B46"/>
                </a:solidFill>
                <a:latin typeface="Calibri"/>
              </a:rPr>
              <a:t>How does DeepSeek compare to rule-based triage for workshop accuracy?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130552"/>
            <a:ext cx="11430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677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67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F2B46"/>
                </a:solidFill>
                <a:latin typeface="Calibri"/>
              </a:rPr>
              <a:t>What automated tests would you prioritise before production deployment?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935224"/>
            <a:ext cx="11430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7238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7238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F2B46"/>
                </a:solidFill>
                <a:latin typeface="Calibri"/>
              </a:rPr>
              <a:t>How should the system handle multilingual complaints in NZ workshops?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39896"/>
            <a:ext cx="11430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7705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7705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F2B46"/>
                </a:solidFill>
                <a:latin typeface="Calibri"/>
              </a:rPr>
              <a:t>What privacy disclosures are needed for third-party AI processing?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544568"/>
            <a:ext cx="11430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8172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Q5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817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F2B46"/>
                </a:solidFill>
                <a:latin typeface="Calibri"/>
              </a:rPr>
              <a:t>How would you scale technician assignment beyond first-available routing?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349240"/>
            <a:ext cx="11430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4864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9688"/>
                </a:solidFill>
                <a:latin typeface="Calibri"/>
              </a:rPr>
              <a:t>Q6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486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F2B46"/>
                </a:solidFill>
                <a:latin typeface="Calibri"/>
              </a:rPr>
              <a:t>What cloud architecture would you recommend for production deployment?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0807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Rubric target: Excellent (4/4) — prepared questions that open technical discussion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9688"/>
                </a:solidFill>
                <a:latin typeface="Calibri"/>
              </a:rPr>
              <a:t>Auckland Institute of Studies  |  Trimester 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9688"/>
                </a:solidFill>
                <a:latin typeface="Calibri"/>
              </a:rPr>
              <a:t>Questions &amp; Discussion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AutoRepairAgent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[Your Full Name]  |  [Your Student ID]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COMP902 Final Report  |  August 2026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6 References  |  ~20,000-word Report  |  Live UI Screenshots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59" y="960120"/>
            <a:ext cx="42062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2-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05840"/>
            <a:ext cx="411480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79" y="343814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AutoRepairAgent — Full System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COMP902 — Advanced Information Technology Specialised Project  |  Slide 25 of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