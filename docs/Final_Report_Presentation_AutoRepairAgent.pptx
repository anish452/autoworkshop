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76809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Segoe UI"/>
              </a:rPr>
              <a:t>AutoRepairAgent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383280"/>
            <a:ext cx="7680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0" i="0">
                <a:solidFill>
                  <a:srgbClr val="E3F2FD"/>
                </a:solidFill>
                <a:latin typeface="Calibri"/>
              </a:rPr>
              <a:t>AI-Powered Vehicle Repair Workshop Management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114800"/>
            <a:ext cx="7680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 i="0">
                <a:solidFill>
                  <a:srgbClr val="009688"/>
                </a:solidFill>
                <a:latin typeface="Segoe UI"/>
              </a:rPr>
              <a:t>Final Report Presentation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572000"/>
            <a:ext cx="7680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 i="0">
                <a:solidFill>
                  <a:srgbClr val="E3F2FD"/>
                </a:solidFill>
                <a:latin typeface="Calibri"/>
              </a:rPr>
              <a:t>Based on Final Report — Master's Specialised Project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754880"/>
            <a:ext cx="76809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Calibri"/>
              </a:rPr>
              <a:t>[Student Name]  |  [Student ID]</a:t>
            </a:r>
            <a:br/>
            <a:r>
              <a:t>[Course / Programme]  |  [College Name]</a:t>
            </a:r>
            <a:br/>
            <a:r>
              <a:t>July 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73952"/>
            <a:ext cx="9144000" cy="384048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653796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i="0">
                <a:solidFill>
                  <a:srgbClr val="E3F2FD"/>
                </a:solidFill>
                <a:latin typeface="Calibri"/>
              </a:rPr>
              <a:t>AutoRepairAgent  |  Final Report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653796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320040" y="164592"/>
            <a:ext cx="594360" cy="594360"/>
          </a:xfrm>
          <a:prstGeom prst="ellipse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256032"/>
            <a:ext cx="594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Segoe UI"/>
              </a:rPr>
              <a:t>AR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0" y="201168"/>
            <a:ext cx="1508760" cy="347472"/>
          </a:xfrm>
          <a:prstGeom prst="roundRect">
            <a:avLst>
              <a:gd name="adj" fmla="val 5000"/>
            </a:avLst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0" y="237744"/>
            <a:ext cx="1508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Segoe UI"/>
              </a:rPr>
              <a:t>AGENDA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137160"/>
            <a:ext cx="6217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Segoe UI"/>
              </a:rPr>
              <a:t>Presentation Agenda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594360"/>
            <a:ext cx="6400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E3F2FD"/>
                </a:solidFill>
                <a:latin typeface="Calibri"/>
              </a:rPr>
              <a:t>Aligned with Final Report Chapters 1–8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73952"/>
            <a:ext cx="9144000" cy="384048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653796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i="0">
                <a:solidFill>
                  <a:srgbClr val="E3F2FD"/>
                </a:solidFill>
                <a:latin typeface="Calibri"/>
              </a:rPr>
              <a:t>AutoRepairAgent  |  Final Report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653796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1143000"/>
            <a:ext cx="8138160" cy="5257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685800" y="1325880"/>
          <a:ext cx="7772400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6858000"/>
              </a:tblGrid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Ch.</a:t>
                      </a:r>
                    </a:p>
                  </a:txBody>
                  <a:tcPr anchor="ctr">
                    <a:solidFill>
                      <a:srgbClr val="0F27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Final Report Section</a:t>
                      </a:r>
                    </a:p>
                  </a:txBody>
                  <a:tcPr anchor="ctr">
                    <a:solidFill>
                      <a:srgbClr val="0F274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12121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12121"/>
                          </a:solidFill>
                          <a:latin typeface="Calibri"/>
                        </a:rPr>
                        <a:t>Introduction — background, problem, research questions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12121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12121"/>
                          </a:solidFill>
                          <a:latin typeface="Calibri"/>
                        </a:rPr>
                        <a:t>Literature Review — WMS, AI/NLP, architecture, RBAC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12121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12121"/>
                          </a:solidFill>
                          <a:latin typeface="Calibri"/>
                        </a:rPr>
                        <a:t>Objectives &amp; Scope — Phase 1 &amp; 2 deliverables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12121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12121"/>
                          </a:solidFill>
                          <a:latin typeface="Calibri"/>
                        </a:rPr>
                        <a:t>Methodology — phased development, testing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12121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12121"/>
                          </a:solidFill>
                          <a:latin typeface="Calibri"/>
                        </a:rPr>
                        <a:t>System Design &amp; Implementation — architecture, modules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12121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12121"/>
                          </a:solidFill>
                          <a:latin typeface="Calibri"/>
                        </a:rPr>
                        <a:t>Results &amp; Outcomes — UI screenshots, workflow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12121"/>
                          </a:solidFill>
                          <a:latin typeface="Calibri"/>
                        </a:rPr>
                        <a:t>7–8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12121"/>
                          </a:solidFill>
                          <a:latin typeface="Calibri"/>
                        </a:rPr>
                        <a:t>Discussion, Conclusions &amp; Future Work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320040" y="164592"/>
            <a:ext cx="594360" cy="594360"/>
          </a:xfrm>
          <a:prstGeom prst="ellipse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256032"/>
            <a:ext cx="594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Segoe UI"/>
              </a:rPr>
              <a:t>AR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0" y="201168"/>
            <a:ext cx="1508760" cy="347472"/>
          </a:xfrm>
          <a:prstGeom prst="roundRect">
            <a:avLst>
              <a:gd name="adj" fmla="val 5000"/>
            </a:avLst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0" y="237744"/>
            <a:ext cx="1508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Segoe UI"/>
              </a:rPr>
              <a:t>CH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137160"/>
            <a:ext cx="6217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Segoe UI"/>
              </a:rPr>
              <a:t>Chapter 1 — Introduction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594360"/>
            <a:ext cx="6400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E3F2FD"/>
                </a:solidFill>
                <a:latin typeface="Calibri"/>
              </a:rPr>
              <a:t>Background, Problem &amp; Motivation (Sommerville, 2016)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73952"/>
            <a:ext cx="9144000" cy="384048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653796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i="0">
                <a:solidFill>
                  <a:srgbClr val="E3F2FD"/>
                </a:solidFill>
                <a:latin typeface="Calibri"/>
              </a:rPr>
              <a:t>AutoRepairAgent  |  Final Report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653796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BDBDBD"/>
                </a:solidFill>
                <a:latin typeface="Calibri"/>
              </a:rPr>
              <a:t>Introduction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653796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1143000"/>
            <a:ext cx="8138160" cy="5257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1325880"/>
            <a:ext cx="77724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500" b="0" i="0">
                <a:solidFill>
                  <a:srgbClr val="212121"/>
                </a:solidFill>
                <a:latin typeface="Calibri"/>
              </a:rPr>
              <a:t>▸  Vehicle repair workshops face manual triage and inconsistent job routing.</a:t>
            </a:r>
          </a:p>
          <a:p>
            <a:pPr>
              <a:spcAft>
                <a:spcPts val="900"/>
              </a:spcAft>
            </a:pPr>
            <a:r>
              <a:rPr sz="1500" b="0" i="0">
                <a:solidFill>
                  <a:srgbClr val="212121"/>
                </a:solidFill>
                <a:latin typeface="Calibri"/>
              </a:rPr>
              <a:t>▸  Paper job cards and phone coordination limit visibility and auditability.</a:t>
            </a:r>
          </a:p>
          <a:p>
            <a:pPr>
              <a:spcAft>
                <a:spcPts val="900"/>
              </a:spcAft>
            </a:pPr>
            <a:r>
              <a:rPr sz="1500" b="0" i="0">
                <a:solidFill>
                  <a:srgbClr val="212121"/>
                </a:solidFill>
                <a:latin typeface="Calibri"/>
              </a:rPr>
              <a:t>▸  AutoRepairAgent: AI-powered web system for complaint classification.</a:t>
            </a:r>
          </a:p>
          <a:p>
            <a:pPr>
              <a:spcAft>
                <a:spcPts val="900"/>
              </a:spcAft>
            </a:pPr>
            <a:r>
              <a:rPr sz="1500" b="0" i="0">
                <a:solidFill>
                  <a:srgbClr val="212121"/>
                </a:solidFill>
                <a:latin typeface="Calibri"/>
              </a:rPr>
              <a:t>▸  Routes jobs to Mechanical, Electrical, Body Repair, Paint, Inspection.</a:t>
            </a:r>
          </a:p>
          <a:p>
            <a:pPr>
              <a:spcAft>
                <a:spcPts val="900"/>
              </a:spcAft>
            </a:pPr>
            <a:r>
              <a:rPr sz="1500" b="0" i="0">
                <a:solidFill>
                  <a:srgbClr val="212121"/>
                </a:solidFill>
                <a:latin typeface="Calibri"/>
              </a:rPr>
              <a:t>▸  Significance: reduces misclassification delay and improves transparency.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320040" y="164592"/>
            <a:ext cx="594360" cy="594360"/>
          </a:xfrm>
          <a:prstGeom prst="ellipse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256032"/>
            <a:ext cx="594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Segoe UI"/>
              </a:rPr>
              <a:t>AR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0" y="201168"/>
            <a:ext cx="1508760" cy="347472"/>
          </a:xfrm>
          <a:prstGeom prst="roundRect">
            <a:avLst>
              <a:gd name="adj" fmla="val 5000"/>
            </a:avLst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0" y="237744"/>
            <a:ext cx="1508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Segoe UI"/>
              </a:rPr>
              <a:t>CH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137160"/>
            <a:ext cx="6217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Segoe UI"/>
              </a:rPr>
              <a:t>Research Questions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594360"/>
            <a:ext cx="6400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E3F2FD"/>
                </a:solidFill>
                <a:latin typeface="Calibri"/>
              </a:rPr>
              <a:t>Chapter 1.4 — Guiding Questions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73952"/>
            <a:ext cx="9144000" cy="384048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653796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i="0">
                <a:solidFill>
                  <a:srgbClr val="E3F2FD"/>
                </a:solidFill>
                <a:latin typeface="Calibri"/>
              </a:rPr>
              <a:t>AutoRepairAgent  |  Final Report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653796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BDBDBD"/>
                </a:solidFill>
                <a:latin typeface="Calibri"/>
              </a:rPr>
              <a:t>Introduction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653796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1143000"/>
            <a:ext cx="8138160" cy="5257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1325880"/>
            <a:ext cx="77724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500" b="0" i="0">
                <a:solidFill>
                  <a:srgbClr val="212121"/>
                </a:solidFill>
                <a:latin typeface="Calibri"/>
              </a:rPr>
              <a:t>▸  RQ1: Can LLM-based AI classify multilingual vehicle complaints into departments?</a:t>
            </a:r>
          </a:p>
          <a:p>
            <a:pPr>
              <a:spcAft>
                <a:spcPts val="900"/>
              </a:spcAft>
            </a:pPr>
            <a:r>
              <a:rPr sz="1500" b="0" i="0">
                <a:solidFill>
                  <a:srgbClr val="212121"/>
                </a:solidFill>
                <a:latin typeface="Calibri"/>
              </a:rPr>
              <a:t>▸  RQ2: Can Clean Architecture support maintainable full-stack development?</a:t>
            </a:r>
          </a:p>
          <a:p>
            <a:pPr>
              <a:spcAft>
                <a:spcPts val="900"/>
              </a:spcAft>
            </a:pPr>
            <a:r>
              <a:rPr sz="1500" b="0" i="0">
                <a:solidFill>
                  <a:srgbClr val="212121"/>
                </a:solidFill>
                <a:latin typeface="Calibri"/>
              </a:rPr>
              <a:t>▸  RQ3: Does RBAC enforce appropriate access across 8 workshop roles?</a:t>
            </a:r>
          </a:p>
          <a:p>
            <a:pPr>
              <a:spcAft>
                <a:spcPts val="900"/>
              </a:spcAft>
            </a:pPr>
            <a:r>
              <a:rPr sz="1500" b="0" i="0">
                <a:solidFill>
                  <a:srgbClr val="212121"/>
                </a:solidFill>
                <a:latin typeface="Calibri"/>
              </a:rPr>
              <a:t>▸  RQ4: Can the system deliver end-to-end workflow from complaint to completion?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320040" y="164592"/>
            <a:ext cx="594360" cy="594360"/>
          </a:xfrm>
          <a:prstGeom prst="ellipse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256032"/>
            <a:ext cx="594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Segoe UI"/>
              </a:rPr>
              <a:t>AR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0" y="201168"/>
            <a:ext cx="1508760" cy="347472"/>
          </a:xfrm>
          <a:prstGeom prst="roundRect">
            <a:avLst>
              <a:gd name="adj" fmla="val 5000"/>
            </a:avLst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0" y="237744"/>
            <a:ext cx="1508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Segoe UI"/>
              </a:rPr>
              <a:t>CH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137160"/>
            <a:ext cx="6217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Segoe UI"/>
              </a:rPr>
              <a:t>Chapter 2 — Literature Review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594360"/>
            <a:ext cx="6400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E3F2FD"/>
                </a:solidFill>
                <a:latin typeface="Calibri"/>
              </a:rPr>
              <a:t>Key Themes from Final Report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73952"/>
            <a:ext cx="9144000" cy="384048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653796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i="0">
                <a:solidFill>
                  <a:srgbClr val="E3F2FD"/>
                </a:solidFill>
                <a:latin typeface="Calibri"/>
              </a:rPr>
              <a:t>AutoRepairAgent  |  Final Report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653796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BDBDBD"/>
                </a:solidFill>
                <a:latin typeface="Calibri"/>
              </a:rPr>
              <a:t>Literature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653796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1143000"/>
            <a:ext cx="8138160" cy="5257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85800" y="1280160"/>
            <a:ext cx="3657600" cy="347472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1316736"/>
            <a:ext cx="3657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Segoe UI"/>
              </a:rPr>
              <a:t>Domain Literature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663440" y="1280160"/>
            <a:ext cx="3657600" cy="347472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63440" y="1316736"/>
            <a:ext cx="3657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Segoe UI"/>
              </a:rPr>
              <a:t>Technical Literature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1737360"/>
            <a:ext cx="3657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300" b="0" i="0">
                <a:solidFill>
                  <a:srgbClr val="212121"/>
                </a:solidFill>
                <a:latin typeface="Calibri"/>
              </a:rPr>
              <a:t>▸  Workshop Management Systems (WMS) digitise intake &amp; scheduling</a:t>
            </a:r>
          </a:p>
          <a:p>
            <a:pPr>
              <a:spcAft>
                <a:spcPts val="700"/>
              </a:spcAft>
            </a:pPr>
            <a:r>
              <a:rPr sz="1300" b="0" i="0">
                <a:solidFill>
                  <a:srgbClr val="212121"/>
                </a:solidFill>
                <a:latin typeface="Calibri"/>
              </a:rPr>
              <a:t>▸  AI/NLP enables unstructured complaint parsing (Amershi et al., 2019)</a:t>
            </a:r>
          </a:p>
          <a:p>
            <a:pPr>
              <a:spcAft>
                <a:spcPts val="700"/>
              </a:spcAft>
            </a:pPr>
            <a:r>
              <a:rPr sz="1300" b="0" i="0">
                <a:solidFill>
                  <a:srgbClr val="212121"/>
                </a:solidFill>
                <a:latin typeface="Calibri"/>
              </a:rPr>
              <a:t>▸  LLMs support multilingual symptom description analysis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63440" y="1737360"/>
            <a:ext cx="3657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300" b="0" i="0">
                <a:solidFill>
                  <a:srgbClr val="212121"/>
                </a:solidFill>
                <a:latin typeface="Calibri"/>
              </a:rPr>
              <a:t>▸  REST APIs + SPA architecture (Fielding, 2000; Newman, 2021)</a:t>
            </a:r>
          </a:p>
          <a:p>
            <a:pPr>
              <a:spcAft>
                <a:spcPts val="700"/>
              </a:spcAft>
            </a:pPr>
            <a:r>
              <a:rPr sz="1300" b="0" i="0">
                <a:solidFill>
                  <a:srgbClr val="212121"/>
                </a:solidFill>
                <a:latin typeface="Calibri"/>
              </a:rPr>
              <a:t>▸  Clean Architecture separates concerns (Martin, 2017)</a:t>
            </a:r>
          </a:p>
          <a:p>
            <a:pPr>
              <a:spcAft>
                <a:spcPts val="700"/>
              </a:spcAft>
            </a:pPr>
            <a:r>
              <a:rPr sz="1300" b="0" i="0">
                <a:solidFill>
                  <a:srgbClr val="212121"/>
                </a:solidFill>
                <a:latin typeface="Calibri"/>
              </a:rPr>
              <a:t>▸  RBAC enforces least-privilege access (Sandhu &amp; Samarati, 1994)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320040" y="164592"/>
            <a:ext cx="594360" cy="594360"/>
          </a:xfrm>
          <a:prstGeom prst="ellipse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256032"/>
            <a:ext cx="594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Segoe UI"/>
              </a:rPr>
              <a:t>AR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0" y="201168"/>
            <a:ext cx="1508760" cy="347472"/>
          </a:xfrm>
          <a:prstGeom prst="roundRect">
            <a:avLst>
              <a:gd name="adj" fmla="val 5000"/>
            </a:avLst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0" y="237744"/>
            <a:ext cx="1508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Segoe UI"/>
              </a:rPr>
              <a:t>CH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137160"/>
            <a:ext cx="6217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Segoe UI"/>
              </a:rPr>
              <a:t>Research Gap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594360"/>
            <a:ext cx="6400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E3F2FD"/>
                </a:solidFill>
                <a:latin typeface="Calibri"/>
              </a:rPr>
              <a:t>Chapter 2.5 — Synthesis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73952"/>
            <a:ext cx="9144000" cy="384048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653796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i="0">
                <a:solidFill>
                  <a:srgbClr val="E3F2FD"/>
                </a:solidFill>
                <a:latin typeface="Calibri"/>
              </a:rPr>
              <a:t>AutoRepairAgent  |  Final Report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653796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BDBDBD"/>
                </a:solidFill>
                <a:latin typeface="Calibri"/>
              </a:rPr>
              <a:t>Literature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653796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1143000"/>
            <a:ext cx="8138160" cy="5257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1325880"/>
            <a:ext cx="77724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500" b="0" i="0">
                <a:solidFill>
                  <a:srgbClr val="212121"/>
                </a:solidFill>
                <a:latin typeface="Calibri"/>
              </a:rPr>
              <a:t>▸  Gap: affordable AI-integrated WMS for small/medium workshops.</a:t>
            </a:r>
          </a:p>
          <a:p>
            <a:pPr>
              <a:spcAft>
                <a:spcPts val="900"/>
              </a:spcAft>
            </a:pPr>
            <a:r>
              <a:rPr sz="1500" b="0" i="0">
                <a:solidFill>
                  <a:srgbClr val="212121"/>
                </a:solidFill>
                <a:latin typeface="Calibri"/>
              </a:rPr>
              <a:t>▸  Existing ERP systems are costly; manual processes lack AI triage.</a:t>
            </a:r>
          </a:p>
          <a:p>
            <a:pPr>
              <a:spcAft>
                <a:spcPts val="900"/>
              </a:spcAft>
            </a:pPr>
            <a:r>
              <a:rPr sz="1500" b="0" i="0">
                <a:solidFill>
                  <a:srgbClr val="212121"/>
                </a:solidFill>
                <a:latin typeface="Calibri"/>
              </a:rPr>
              <a:t>▸  AutoRepairAgent addresses: AI classification + RBAC + open architecture.</a:t>
            </a:r>
          </a:p>
          <a:p>
            <a:pPr>
              <a:spcAft>
                <a:spcPts val="900"/>
              </a:spcAft>
            </a:pPr>
            <a:r>
              <a:rPr sz="1500" b="0" i="0">
                <a:solidFill>
                  <a:srgbClr val="212121"/>
                </a:solidFill>
                <a:latin typeface="Calibri"/>
              </a:rPr>
              <a:t>▸  Combines DeepSeek LLM with purpose-built workshop workflow.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320040" y="164592"/>
            <a:ext cx="594360" cy="594360"/>
          </a:xfrm>
          <a:prstGeom prst="ellipse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256032"/>
            <a:ext cx="594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Segoe UI"/>
              </a:rPr>
              <a:t>AR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0" y="201168"/>
            <a:ext cx="1508760" cy="347472"/>
          </a:xfrm>
          <a:prstGeom prst="roundRect">
            <a:avLst>
              <a:gd name="adj" fmla="val 5000"/>
            </a:avLst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0" y="237744"/>
            <a:ext cx="1508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Segoe UI"/>
              </a:rPr>
              <a:t>CH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137160"/>
            <a:ext cx="6217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Segoe UI"/>
              </a:rPr>
              <a:t>Chapter 3 — Objectives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594360"/>
            <a:ext cx="6400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E3F2FD"/>
                </a:solidFill>
                <a:latin typeface="Calibri"/>
              </a:rPr>
              <a:t>Phase 1 &amp; Phase 2 Deliverables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73952"/>
            <a:ext cx="9144000" cy="384048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653796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i="0">
                <a:solidFill>
                  <a:srgbClr val="E3F2FD"/>
                </a:solidFill>
                <a:latin typeface="Calibri"/>
              </a:rPr>
              <a:t>AutoRepairAgent  |  Final Report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653796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BDBDBD"/>
                </a:solidFill>
                <a:latin typeface="Calibri"/>
              </a:rPr>
              <a:t>Objectives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653796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1143000"/>
            <a:ext cx="8138160" cy="5257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685800" y="1325880"/>
          <a:ext cx="7315200" cy="26883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4754880"/>
                <a:gridCol w="1828800"/>
              </a:tblGrid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Phase</a:t>
                      </a:r>
                    </a:p>
                  </a:txBody>
                  <a:tcPr anchor="ctr">
                    <a:solidFill>
                      <a:srgbClr val="0F27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Deliverable</a:t>
                      </a:r>
                    </a:p>
                  </a:txBody>
                  <a:tcPr anchor="ctr">
                    <a:solidFill>
                      <a:srgbClr val="0F27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 anchor="ctr">
                    <a:solidFill>
                      <a:srgbClr val="0F274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12121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12121"/>
                          </a:solidFill>
                          <a:latin typeface="Calibri"/>
                        </a:rPr>
                        <a:t>Database, auth, admin, departments, UI design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E7D32"/>
                          </a:solidFill>
                          <a:latin typeface="Calibri"/>
                        </a:rPr>
                        <a:t>Complete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12121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12121"/>
                          </a:solidFill>
                          <a:latin typeface="Calibri"/>
                        </a:rPr>
                        <a:t>JWT + RBAC (8 roles), audit logging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E7D32"/>
                          </a:solidFill>
                          <a:latin typeface="Calibri"/>
                        </a:rPr>
                        <a:t>Complete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12121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12121"/>
                          </a:solidFill>
                          <a:latin typeface="Calibri"/>
                        </a:rPr>
                        <a:t>Customer &amp; vehicle management modules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E7D32"/>
                          </a:solidFill>
                          <a:latin typeface="Calibri"/>
                        </a:rPr>
                        <a:t>Complete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12121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12121"/>
                          </a:solidFill>
                          <a:latin typeface="Calibri"/>
                        </a:rPr>
                        <a:t>AI job creation + DeepSeek integration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E7D32"/>
                          </a:solidFill>
                          <a:latin typeface="Calibri"/>
                        </a:rPr>
                        <a:t>Complete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12121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12121"/>
                          </a:solidFill>
                          <a:latin typeface="Calibri"/>
                        </a:rPr>
                        <a:t>Job assignment, lifecycle, AI analysis log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E7D32"/>
                          </a:solidFill>
                          <a:latin typeface="Calibri"/>
                        </a:rPr>
                        <a:t>Complete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12121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12121"/>
                          </a:solidFill>
                          <a:latin typeface="Calibri"/>
                        </a:rPr>
                        <a:t>Deployment, multilingual UI, automated tests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E65100"/>
                          </a:solidFill>
                          <a:latin typeface="Calibri"/>
                        </a:rPr>
                        <a:t>Deferred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320040" y="164592"/>
            <a:ext cx="594360" cy="594360"/>
          </a:xfrm>
          <a:prstGeom prst="ellipse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256032"/>
            <a:ext cx="594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Segoe UI"/>
              </a:rPr>
              <a:t>AR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0" y="201168"/>
            <a:ext cx="1508760" cy="347472"/>
          </a:xfrm>
          <a:prstGeom prst="roundRect">
            <a:avLst>
              <a:gd name="adj" fmla="val 5000"/>
            </a:avLst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0" y="237744"/>
            <a:ext cx="1508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Segoe UI"/>
              </a:rPr>
              <a:t>CH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137160"/>
            <a:ext cx="6217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Segoe UI"/>
              </a:rPr>
              <a:t>Chapter 3 — Scope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594360"/>
            <a:ext cx="6400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E3F2FD"/>
                </a:solidFill>
                <a:latin typeface="Calibri"/>
              </a:rPr>
              <a:t>In Scope vs Out of Scope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73952"/>
            <a:ext cx="9144000" cy="384048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653796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i="0">
                <a:solidFill>
                  <a:srgbClr val="E3F2FD"/>
                </a:solidFill>
                <a:latin typeface="Calibri"/>
              </a:rPr>
              <a:t>AutoRepairAgent  |  Final Report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653796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BDBDBD"/>
                </a:solidFill>
                <a:latin typeface="Calibri"/>
              </a:rPr>
              <a:t>Objectives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653796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 i="0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1143000"/>
            <a:ext cx="8138160" cy="5257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85800" y="1280160"/>
            <a:ext cx="3657600" cy="347472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1316736"/>
            <a:ext cx="3657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Segoe UI"/>
              </a:rPr>
              <a:t>In Scope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663440" y="1280160"/>
            <a:ext cx="3657600" cy="347472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63440" y="1316736"/>
            <a:ext cx="3657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Segoe UI"/>
              </a:rPr>
              <a:t>Out of Scope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1737360"/>
            <a:ext cx="3657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300" b="0" i="0">
                <a:solidFill>
                  <a:srgbClr val="212121"/>
                </a:solidFill>
                <a:latin typeface="Calibri"/>
              </a:rPr>
              <a:t>▸  Full-stack web application (React + Node.js)</a:t>
            </a:r>
          </a:p>
          <a:p>
            <a:pPr>
              <a:spcAft>
                <a:spcPts val="700"/>
              </a:spcAft>
            </a:pPr>
            <a:r>
              <a:rPr sz="1300" b="0" i="0">
                <a:solidFill>
                  <a:srgbClr val="212121"/>
                </a:solidFill>
                <a:latin typeface="Calibri"/>
              </a:rPr>
              <a:t>▸  34 REST API endpoints</a:t>
            </a:r>
          </a:p>
          <a:p>
            <a:pPr>
              <a:spcAft>
                <a:spcPts val="700"/>
              </a:spcAft>
            </a:pPr>
            <a:r>
              <a:rPr sz="1300" b="0" i="0">
                <a:solidFill>
                  <a:srgbClr val="212121"/>
                </a:solidFill>
                <a:latin typeface="Calibri"/>
              </a:rPr>
              <a:t>▸  PostgreSQL database with 10 tables</a:t>
            </a:r>
          </a:p>
          <a:p>
            <a:pPr>
              <a:spcAft>
                <a:spcPts val="700"/>
              </a:spcAft>
            </a:pPr>
            <a:r>
              <a:rPr sz="1300" b="0" i="0">
                <a:solidFill>
                  <a:srgbClr val="212121"/>
                </a:solidFill>
                <a:latin typeface="Calibri"/>
              </a:rPr>
              <a:t>▸  AI complaint classification</a:t>
            </a:r>
          </a:p>
          <a:p>
            <a:pPr>
              <a:spcAft>
                <a:spcPts val="700"/>
              </a:spcAft>
            </a:pPr>
            <a:r>
              <a:rPr sz="1300" b="0" i="0">
                <a:solidFill>
                  <a:srgbClr val="212121"/>
                </a:solidFill>
                <a:latin typeface="Calibri"/>
              </a:rPr>
              <a:t>▸  Role-based dashboards for 4 user types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63440" y="1737360"/>
            <a:ext cx="3657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300" b="0" i="0">
                <a:solidFill>
                  <a:srgbClr val="212121"/>
                </a:solidFill>
                <a:latin typeface="Calibri"/>
              </a:rPr>
              <a:t>▸  Production cloud deployment</a:t>
            </a:r>
          </a:p>
          <a:p>
            <a:pPr>
              <a:spcAft>
                <a:spcPts val="700"/>
              </a:spcAft>
            </a:pPr>
            <a:r>
              <a:rPr sz="1300" b="0" i="0">
                <a:solidFill>
                  <a:srgbClr val="212121"/>
                </a:solidFill>
                <a:latin typeface="Calibri"/>
              </a:rPr>
              <a:t>▸  Sinhala/Tamil UI localisation</a:t>
            </a:r>
          </a:p>
          <a:p>
            <a:pPr>
              <a:spcAft>
                <a:spcPts val="700"/>
              </a:spcAft>
            </a:pPr>
            <a:r>
              <a:rPr sz="1300" b="0" i="0">
                <a:solidFill>
                  <a:srgbClr val="212121"/>
                </a:solidFill>
                <a:latin typeface="Calibri"/>
              </a:rPr>
              <a:t>▸  Automated unit/E2E testing</a:t>
            </a:r>
          </a:p>
          <a:p>
            <a:pPr>
              <a:spcAft>
                <a:spcPts val="700"/>
              </a:spcAft>
            </a:pPr>
            <a:r>
              <a:rPr sz="1300" b="0" i="0">
                <a:solidFill>
                  <a:srgbClr val="212121"/>
                </a:solidFill>
                <a:latin typeface="Calibri"/>
              </a:rPr>
              <a:t>▸  Inventory &amp; invoicing modules</a:t>
            </a:r>
          </a:p>
          <a:p>
            <a:pPr>
              <a:spcAft>
                <a:spcPts val="700"/>
              </a:spcAft>
            </a:pPr>
            <a:r>
              <a:rPr sz="1300" b="0" i="0">
                <a:solidFill>
                  <a:srgbClr val="212121"/>
                </a:solidFill>
                <a:latin typeface="Calibri"/>
              </a:rPr>
              <a:t>▸  SMS/email notification system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320040" y="164592"/>
            <a:ext cx="594360" cy="594360"/>
          </a:xfrm>
          <a:prstGeom prst="ellipse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256032"/>
            <a:ext cx="594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Segoe UI"/>
              </a:rPr>
              <a:t>AR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0" y="201168"/>
            <a:ext cx="1508760" cy="347472"/>
          </a:xfrm>
          <a:prstGeom prst="roundRect">
            <a:avLst>
              <a:gd name="adj" fmla="val 5000"/>
            </a:avLst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0" y="237744"/>
            <a:ext cx="1508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Segoe UI"/>
              </a:rPr>
              <a:t>CH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137160"/>
            <a:ext cx="6217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Segoe UI"/>
              </a:rPr>
              <a:t>Chapter 4 — Methodology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594360"/>
            <a:ext cx="6400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E3F2FD"/>
                </a:solidFill>
                <a:latin typeface="Calibri"/>
              </a:rPr>
              <a:t>Development Approach (Sommerville, 2016)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73952"/>
            <a:ext cx="9144000" cy="384048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653796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i="0">
                <a:solidFill>
                  <a:srgbClr val="E3F2FD"/>
                </a:solidFill>
                <a:latin typeface="Calibri"/>
              </a:rPr>
              <a:t>AutoRepairAgent  |  Final Report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653796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BDBDBD"/>
                </a:solidFill>
                <a:latin typeface="Calibri"/>
              </a:rPr>
              <a:t>Methodology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653796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 i="0">
                <a:solidFill>
                  <a:srgbClr val="FFFFFF"/>
                </a:solidFill>
                <a:latin typeface="Calibri"/>
              </a:rPr>
              <a:t>9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1143000"/>
            <a:ext cx="8138160" cy="5257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1325880"/>
            <a:ext cx="77724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500" b="0" i="0">
                <a:solidFill>
                  <a:srgbClr val="212121"/>
                </a:solidFill>
                <a:latin typeface="Calibri"/>
              </a:rPr>
              <a:t>▸  Phased iterative development across two progress reports.</a:t>
            </a:r>
          </a:p>
          <a:p>
            <a:pPr>
              <a:spcAft>
                <a:spcPts val="900"/>
              </a:spcAft>
            </a:pPr>
            <a:r>
              <a:rPr sz="1500" b="0" i="0">
                <a:solidFill>
                  <a:srgbClr val="212121"/>
                </a:solidFill>
                <a:latin typeface="Calibri"/>
              </a:rPr>
              <a:t>▸  Requirements: functional (CRUD, AI, RBAC) + non-functional (security, usability).</a:t>
            </a:r>
          </a:p>
          <a:p>
            <a:pPr>
              <a:spcAft>
                <a:spcPts val="900"/>
              </a:spcAft>
            </a:pPr>
            <a:r>
              <a:rPr sz="1500" b="0" i="0">
                <a:solidFill>
                  <a:srgbClr val="212121"/>
                </a:solidFill>
                <a:latin typeface="Calibri"/>
              </a:rPr>
              <a:t>▸  Design: ERD, Clean Architecture layers, REST API contract.</a:t>
            </a:r>
          </a:p>
          <a:p>
            <a:pPr>
              <a:spcAft>
                <a:spcPts val="900"/>
              </a:spcAft>
            </a:pPr>
            <a:r>
              <a:rPr sz="1500" b="0" i="0">
                <a:solidFill>
                  <a:srgbClr val="212121"/>
                </a:solidFill>
                <a:latin typeface="Calibri"/>
              </a:rPr>
              <a:t>▸  Implementation: manual coding — backend services + React SPA.</a:t>
            </a:r>
          </a:p>
          <a:p>
            <a:pPr>
              <a:spcAft>
                <a:spcPts val="900"/>
              </a:spcAft>
            </a:pPr>
            <a:r>
              <a:rPr sz="1500" b="0" i="0">
                <a:solidFill>
                  <a:srgbClr val="212121"/>
                </a:solidFill>
                <a:latin typeface="Calibri"/>
              </a:rPr>
              <a:t>▸  Testing: Postman API tests, seed data scenarios, manual E2E workflow.</a:t>
            </a:r>
          </a:p>
          <a:p>
            <a:pPr>
              <a:spcAft>
                <a:spcPts val="900"/>
              </a:spcAft>
            </a:pPr>
            <a:r>
              <a:rPr sz="1500" b="0" i="0">
                <a:solidFill>
                  <a:srgbClr val="212121"/>
                </a:solidFill>
                <a:latin typeface="Calibri"/>
              </a:rPr>
              <a:t>▸  Ethics: data privacy, AI accountability, audit trail for AI decisions.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320040" y="164592"/>
            <a:ext cx="594360" cy="594360"/>
          </a:xfrm>
          <a:prstGeom prst="ellipse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256032"/>
            <a:ext cx="594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Segoe UI"/>
              </a:rPr>
              <a:t>AR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0" y="201168"/>
            <a:ext cx="1508760" cy="347472"/>
          </a:xfrm>
          <a:prstGeom prst="roundRect">
            <a:avLst>
              <a:gd name="adj" fmla="val 5000"/>
            </a:avLst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0" y="237744"/>
            <a:ext cx="1508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Segoe UI"/>
              </a:rPr>
              <a:t>CH 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137160"/>
            <a:ext cx="6217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Segoe UI"/>
              </a:rPr>
              <a:t>Chapter 5 — Architecture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594360"/>
            <a:ext cx="6400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E3F2FD"/>
                </a:solidFill>
                <a:latin typeface="Calibri"/>
              </a:rPr>
              <a:t>System Design Overview (Martin, 2017)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73952"/>
            <a:ext cx="9144000" cy="384048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653796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i="0">
                <a:solidFill>
                  <a:srgbClr val="E3F2FD"/>
                </a:solidFill>
                <a:latin typeface="Calibri"/>
              </a:rPr>
              <a:t>AutoRepairAgent  |  Final Report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653796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BDBDBD"/>
                </a:solidFill>
                <a:latin typeface="Calibri"/>
              </a:rPr>
              <a:t>Implementation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653796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 i="0">
                <a:solidFill>
                  <a:srgbClr val="FFFFFF"/>
                </a:solidFill>
                <a:latin typeface="Calibri"/>
              </a:rPr>
              <a:t>10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1143000"/>
            <a:ext cx="8138160" cy="5257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589750"/>
            <a:ext cx="7863840" cy="4044260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502920" y="5989320"/>
            <a:ext cx="8138160" cy="384048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6035040"/>
            <a:ext cx="8138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 i="1">
                <a:solidFill>
                  <a:srgbClr val="616161"/>
                </a:solidFill>
                <a:latin typeface="Calibri"/>
              </a:rPr>
              <a:t>Three-tier: React SPA → Express API → PostgreSQL + DeepSeek AI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320040" y="164592"/>
            <a:ext cx="594360" cy="594360"/>
          </a:xfrm>
          <a:prstGeom prst="ellipse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256032"/>
            <a:ext cx="594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Segoe UI"/>
              </a:rPr>
              <a:t>AR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0" y="201168"/>
            <a:ext cx="1508760" cy="347472"/>
          </a:xfrm>
          <a:prstGeom prst="roundRect">
            <a:avLst>
              <a:gd name="adj" fmla="val 5000"/>
            </a:avLst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0" y="237744"/>
            <a:ext cx="1508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Segoe UI"/>
              </a:rPr>
              <a:t>CH 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137160"/>
            <a:ext cx="6217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Segoe UI"/>
              </a:rPr>
              <a:t>Chapter 5 — Database &amp; Security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594360"/>
            <a:ext cx="6400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E3F2FD"/>
                </a:solidFill>
                <a:latin typeface="Calibri"/>
              </a:rPr>
              <a:t>Implementation Details (Prisma; OWASP, 2021)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73952"/>
            <a:ext cx="9144000" cy="384048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653796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i="0">
                <a:solidFill>
                  <a:srgbClr val="E3F2FD"/>
                </a:solidFill>
                <a:latin typeface="Calibri"/>
              </a:rPr>
              <a:t>AutoRepairAgent  |  Final Report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653796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BDBDBD"/>
                </a:solidFill>
                <a:latin typeface="Calibri"/>
              </a:rPr>
              <a:t>Implementation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653796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 i="0">
                <a:solidFill>
                  <a:srgbClr val="FFFFFF"/>
                </a:solidFill>
                <a:latin typeface="Calibri"/>
              </a:rPr>
              <a:t>11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1143000"/>
            <a:ext cx="8138160" cy="5257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85800" y="1280160"/>
            <a:ext cx="3657600" cy="347472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1316736"/>
            <a:ext cx="3657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Segoe UI"/>
              </a:rPr>
              <a:t>Database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663440" y="1280160"/>
            <a:ext cx="3657600" cy="347472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63440" y="1316736"/>
            <a:ext cx="3657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Segoe UI"/>
              </a:rPr>
              <a:t>Security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1737360"/>
            <a:ext cx="3657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300" b="0" i="0">
                <a:solidFill>
                  <a:srgbClr val="212121"/>
                </a:solidFill>
                <a:latin typeface="Calibri"/>
              </a:rPr>
              <a:t>▸  10 PostgreSQL tables via Prisma ORM</a:t>
            </a:r>
          </a:p>
          <a:p>
            <a:pPr>
              <a:spcAft>
                <a:spcPts val="700"/>
              </a:spcAft>
            </a:pPr>
            <a:r>
              <a:rPr sz="1300" b="0" i="0">
                <a:solidFill>
                  <a:srgbClr val="212121"/>
                </a:solidFill>
                <a:latin typeface="Calibri"/>
              </a:rPr>
              <a:t>▸  Enums: RoleName, JobStatus, AuditAction</a:t>
            </a:r>
          </a:p>
          <a:p>
            <a:pPr>
              <a:spcAft>
                <a:spcPts val="700"/>
              </a:spcAft>
            </a:pPr>
            <a:r>
              <a:rPr sz="1300" b="0" i="0">
                <a:solidFill>
                  <a:srgbClr val="212121"/>
                </a:solidFill>
                <a:latin typeface="Calibri"/>
              </a:rPr>
              <a:t>▸  Relations: Customer→Vehicle→Job→Dept</a:t>
            </a:r>
          </a:p>
          <a:p>
            <a:pPr>
              <a:spcAft>
                <a:spcPts val="700"/>
              </a:spcAft>
            </a:pPr>
            <a:r>
              <a:rPr sz="1300" b="0" i="0">
                <a:solidFill>
                  <a:srgbClr val="212121"/>
                </a:solidFill>
                <a:latin typeface="Calibri"/>
              </a:rPr>
              <a:t>▸  AIAnalysisLog stores AI responses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63440" y="1737360"/>
            <a:ext cx="3657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300" b="0" i="0">
                <a:solidFill>
                  <a:srgbClr val="212121"/>
                </a:solidFill>
                <a:latin typeface="Calibri"/>
              </a:rPr>
              <a:t>▸  JWT authentication (24h expiry)</a:t>
            </a:r>
          </a:p>
          <a:p>
            <a:pPr>
              <a:spcAft>
                <a:spcPts val="700"/>
              </a:spcAft>
            </a:pPr>
            <a:r>
              <a:rPr sz="1300" b="0" i="0">
                <a:solidFill>
                  <a:srgbClr val="212121"/>
                </a:solidFill>
                <a:latin typeface="Calibri"/>
              </a:rPr>
              <a:t>▸  bcrypt hashing (cost 12)</a:t>
            </a:r>
          </a:p>
          <a:p>
            <a:pPr>
              <a:spcAft>
                <a:spcPts val="700"/>
              </a:spcAft>
            </a:pPr>
            <a:r>
              <a:rPr sz="1300" b="0" i="0">
                <a:solidFill>
                  <a:srgbClr val="212121"/>
                </a:solidFill>
                <a:latin typeface="Calibri"/>
              </a:rPr>
              <a:t>▸  RBAC middleware on all routes</a:t>
            </a:r>
          </a:p>
          <a:p>
            <a:pPr>
              <a:spcAft>
                <a:spcPts val="700"/>
              </a:spcAft>
            </a:pPr>
            <a:r>
              <a:rPr sz="1300" b="0" i="0">
                <a:solidFill>
                  <a:srgbClr val="212121"/>
                </a:solidFill>
                <a:latin typeface="Calibri"/>
              </a:rPr>
              <a:t>▸  Helmet, CORS, rate limiting, Zod validation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320040" y="164592"/>
            <a:ext cx="594360" cy="594360"/>
          </a:xfrm>
          <a:prstGeom prst="ellipse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256032"/>
            <a:ext cx="594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Segoe UI"/>
              </a:rPr>
              <a:t>AR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0" y="201168"/>
            <a:ext cx="1508760" cy="347472"/>
          </a:xfrm>
          <a:prstGeom prst="roundRect">
            <a:avLst>
              <a:gd name="adj" fmla="val 5000"/>
            </a:avLst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0" y="237744"/>
            <a:ext cx="1508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Segoe UI"/>
              </a:rPr>
              <a:t>UI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137160"/>
            <a:ext cx="6217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Segoe UI"/>
              </a:rPr>
              <a:t>UI — Authentication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594360"/>
            <a:ext cx="6400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E3F2FD"/>
                </a:solidFill>
                <a:latin typeface="Calibri"/>
              </a:rPr>
              <a:t>Chapter 6.4 — Login Interface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73952"/>
            <a:ext cx="9144000" cy="384048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653796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i="0">
                <a:solidFill>
                  <a:srgbClr val="E3F2FD"/>
                </a:solidFill>
                <a:latin typeface="Calibri"/>
              </a:rPr>
              <a:t>AutoRepairAgent  |  Final Report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653796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BDBDBD"/>
                </a:solidFill>
                <a:latin typeface="Calibri"/>
              </a:rPr>
              <a:t>Results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653796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 i="0">
                <a:solidFill>
                  <a:srgbClr val="FFFFFF"/>
                </a:solidFill>
                <a:latin typeface="Calibri"/>
              </a:rPr>
              <a:t>12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1143000"/>
            <a:ext cx="8138160" cy="5257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01-login-p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0895" y="1234440"/>
            <a:ext cx="5787889" cy="4754880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502920" y="5989320"/>
            <a:ext cx="8138160" cy="384048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6035040"/>
            <a:ext cx="8138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 i="1">
                <a:solidFill>
                  <a:srgbClr val="616161"/>
                </a:solidFill>
                <a:latin typeface="Calibri"/>
              </a:rPr>
              <a:t>JWT login page — gateway to role-based system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320040" y="164592"/>
            <a:ext cx="594360" cy="594360"/>
          </a:xfrm>
          <a:prstGeom prst="ellipse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256032"/>
            <a:ext cx="594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Segoe UI"/>
              </a:rPr>
              <a:t>AR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0" y="201168"/>
            <a:ext cx="1508760" cy="347472"/>
          </a:xfrm>
          <a:prstGeom prst="roundRect">
            <a:avLst>
              <a:gd name="adj" fmla="val 5000"/>
            </a:avLst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0" y="237744"/>
            <a:ext cx="1508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Segoe UI"/>
              </a:rPr>
              <a:t>PH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137160"/>
            <a:ext cx="6217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Segoe UI"/>
              </a:rPr>
              <a:t>Phase 1 Implementation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594360"/>
            <a:ext cx="6400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E3F2FD"/>
                </a:solidFill>
                <a:latin typeface="Calibri"/>
              </a:rPr>
              <a:t>Admin Module — Chapter 5.4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73952"/>
            <a:ext cx="9144000" cy="384048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653796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i="0">
                <a:solidFill>
                  <a:srgbClr val="E3F2FD"/>
                </a:solidFill>
                <a:latin typeface="Calibri"/>
              </a:rPr>
              <a:t>AutoRepairAgent  |  Final Report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653796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BDBDBD"/>
                </a:solidFill>
                <a:latin typeface="Calibri"/>
              </a:rPr>
              <a:t>Results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653796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 i="0">
                <a:solidFill>
                  <a:srgbClr val="FFFFFF"/>
                </a:solidFill>
                <a:latin typeface="Calibri"/>
              </a:rPr>
              <a:t>13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1143000"/>
            <a:ext cx="8138160" cy="5257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1325880"/>
            <a:ext cx="77724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500" b="0" i="0">
                <a:solidFill>
                  <a:srgbClr val="212121"/>
                </a:solidFill>
                <a:latin typeface="Calibri"/>
              </a:rPr>
              <a:t>▸  User management: CRUD, activate/deactivate, role assignment.</a:t>
            </a:r>
          </a:p>
          <a:p>
            <a:pPr>
              <a:spcAft>
                <a:spcPts val="900"/>
              </a:spcAft>
            </a:pPr>
            <a:r>
              <a:rPr sz="1500" b="0" i="0">
                <a:solidFill>
                  <a:srgbClr val="212121"/>
                </a:solidFill>
                <a:latin typeface="Calibri"/>
              </a:rPr>
              <a:t>▸  Department management: 5 seeded workshop departments.</a:t>
            </a:r>
          </a:p>
          <a:p>
            <a:pPr>
              <a:spcAft>
                <a:spcPts val="900"/>
              </a:spcAft>
            </a:pPr>
            <a:r>
              <a:rPr sz="1500" b="0" i="0">
                <a:solidFill>
                  <a:srgbClr val="212121"/>
                </a:solidFill>
                <a:latin typeface="Calibri"/>
              </a:rPr>
              <a:t>▸  Authentication: AuthContext, protected routes, Axios interceptors.</a:t>
            </a:r>
          </a:p>
          <a:p>
            <a:pPr>
              <a:spcAft>
                <a:spcPts val="900"/>
              </a:spcAft>
            </a:pPr>
            <a:r>
              <a:rPr sz="1500" b="0" i="0">
                <a:solidFill>
                  <a:srgbClr val="212121"/>
                </a:solidFill>
                <a:latin typeface="Calibri"/>
              </a:rPr>
              <a:t>▸  MainLayout: sidebar navigation, light/dark theme, role-based menus.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320040" y="164592"/>
            <a:ext cx="594360" cy="594360"/>
          </a:xfrm>
          <a:prstGeom prst="ellipse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256032"/>
            <a:ext cx="594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Segoe UI"/>
              </a:rPr>
              <a:t>AR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0" y="201168"/>
            <a:ext cx="1508760" cy="347472"/>
          </a:xfrm>
          <a:prstGeom prst="roundRect">
            <a:avLst>
              <a:gd name="adj" fmla="val 5000"/>
            </a:avLst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0" y="237744"/>
            <a:ext cx="1508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Segoe UI"/>
              </a:rPr>
              <a:t>UI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137160"/>
            <a:ext cx="6217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Segoe UI"/>
              </a:rPr>
              <a:t>UI — User Management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594360"/>
            <a:ext cx="6400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E3F2FD"/>
                </a:solidFill>
                <a:latin typeface="Calibri"/>
              </a:rPr>
              <a:t>Chapter 6.4 — Admin Users Page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73952"/>
            <a:ext cx="9144000" cy="384048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653796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i="0">
                <a:solidFill>
                  <a:srgbClr val="E3F2FD"/>
                </a:solidFill>
                <a:latin typeface="Calibri"/>
              </a:rPr>
              <a:t>AutoRepairAgent  |  Final Report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653796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BDBDBD"/>
                </a:solidFill>
                <a:latin typeface="Calibri"/>
              </a:rPr>
              <a:t>Results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653796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 i="0">
                <a:solidFill>
                  <a:srgbClr val="FFFFFF"/>
                </a:solidFill>
                <a:latin typeface="Calibri"/>
              </a:rPr>
              <a:t>14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1143000"/>
            <a:ext cx="8138160" cy="5257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03-users-p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0895" y="1234440"/>
            <a:ext cx="5787889" cy="4754880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502920" y="5989320"/>
            <a:ext cx="8138160" cy="384048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6035040"/>
            <a:ext cx="8138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 i="1">
                <a:solidFill>
                  <a:srgbClr val="616161"/>
                </a:solidFill>
                <a:latin typeface="Calibri"/>
              </a:rPr>
              <a:t>9 system users with roles and department assignments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320040" y="164592"/>
            <a:ext cx="594360" cy="594360"/>
          </a:xfrm>
          <a:prstGeom prst="ellipse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256032"/>
            <a:ext cx="594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Segoe UI"/>
              </a:rPr>
              <a:t>AR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0" y="201168"/>
            <a:ext cx="1508760" cy="347472"/>
          </a:xfrm>
          <a:prstGeom prst="roundRect">
            <a:avLst>
              <a:gd name="adj" fmla="val 5000"/>
            </a:avLst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0" y="237744"/>
            <a:ext cx="1508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Segoe UI"/>
              </a:rPr>
              <a:t>PH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137160"/>
            <a:ext cx="6217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Segoe UI"/>
              </a:rPr>
              <a:t>Phase 2 — Customer &amp; Vehicle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594360"/>
            <a:ext cx="6400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E3F2FD"/>
                </a:solidFill>
                <a:latin typeface="Calibri"/>
              </a:rPr>
              <a:t>Chapter 5.4 Business Modules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73952"/>
            <a:ext cx="9144000" cy="384048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653796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i="0">
                <a:solidFill>
                  <a:srgbClr val="E3F2FD"/>
                </a:solidFill>
                <a:latin typeface="Calibri"/>
              </a:rPr>
              <a:t>AutoRepairAgent  |  Final Report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653796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BDBDBD"/>
                </a:solidFill>
                <a:latin typeface="Calibri"/>
              </a:rPr>
              <a:t>Results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653796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 i="0">
                <a:solidFill>
                  <a:srgbClr val="FFFFFF"/>
                </a:solidFill>
                <a:latin typeface="Calibri"/>
              </a:rPr>
              <a:t>15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1143000"/>
            <a:ext cx="8138160" cy="5257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1325880"/>
            <a:ext cx="77724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500" b="0" i="0">
                <a:solidFill>
                  <a:srgbClr val="212121"/>
                </a:solidFill>
                <a:latin typeface="Calibri"/>
              </a:rPr>
              <a:t>▸  Customer CRUD: /api/customers — Admin and Job Advisor access.</a:t>
            </a:r>
          </a:p>
          <a:p>
            <a:pPr>
              <a:spcAft>
                <a:spcPts val="900"/>
              </a:spcAft>
            </a:pPr>
            <a:r>
              <a:rPr sz="1500" b="0" i="0">
                <a:solidFill>
                  <a:srgbClr val="212121"/>
                </a:solidFill>
                <a:latin typeface="Calibri"/>
              </a:rPr>
              <a:t>▸  Vehicle CRUD: /api/vehicles — linked to customer records.</a:t>
            </a:r>
          </a:p>
          <a:p>
            <a:pPr>
              <a:spcAft>
                <a:spcPts val="900"/>
              </a:spcAft>
            </a:pPr>
            <a:r>
              <a:rPr sz="1500" b="0" i="0">
                <a:solidFill>
                  <a:srgbClr val="212121"/>
                </a:solidFill>
                <a:latin typeface="Calibri"/>
              </a:rPr>
              <a:t>▸  Test data: John Smith (ABC123), Maria Garcia (XYZ789).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320040" y="164592"/>
            <a:ext cx="594360" cy="594360"/>
          </a:xfrm>
          <a:prstGeom prst="ellipse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256032"/>
            <a:ext cx="594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Segoe UI"/>
              </a:rPr>
              <a:t>AR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0" y="201168"/>
            <a:ext cx="1508760" cy="347472"/>
          </a:xfrm>
          <a:prstGeom prst="roundRect">
            <a:avLst>
              <a:gd name="adj" fmla="val 5000"/>
            </a:avLst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0" y="237744"/>
            <a:ext cx="1508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Segoe UI"/>
              </a:rPr>
              <a:t>UI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137160"/>
            <a:ext cx="6217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Segoe UI"/>
              </a:rPr>
              <a:t>UI — Customer &amp; Vehicle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594360"/>
            <a:ext cx="6400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E3F2FD"/>
                </a:solidFill>
                <a:latin typeface="Calibri"/>
              </a:rPr>
              <a:t>Chapter 6.4 — Data Management Screens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73952"/>
            <a:ext cx="9144000" cy="384048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653796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i="0">
                <a:solidFill>
                  <a:srgbClr val="E3F2FD"/>
                </a:solidFill>
                <a:latin typeface="Calibri"/>
              </a:rPr>
              <a:t>AutoRepairAgent  |  Final Report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653796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BDBDBD"/>
                </a:solidFill>
                <a:latin typeface="Calibri"/>
              </a:rPr>
              <a:t>Results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653796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 i="0">
                <a:solidFill>
                  <a:srgbClr val="FFFFFF"/>
                </a:solidFill>
                <a:latin typeface="Calibri"/>
              </a:rPr>
              <a:t>16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1143000"/>
            <a:ext cx="8138160" cy="5257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r2-custom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942920"/>
            <a:ext cx="3840480" cy="3155040"/>
          </a:xfrm>
          <a:prstGeom prst="rect">
            <a:avLst/>
          </a:prstGeom>
        </p:spPr>
      </p:pic>
      <p:pic>
        <p:nvPicPr>
          <p:cNvPr id="16" name="Picture 15" descr="r2-vehicl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6280" y="1942920"/>
            <a:ext cx="3840480" cy="3155040"/>
          </a:xfrm>
          <a:prstGeom prst="rect">
            <a:avLst/>
          </a:prstGeom>
        </p:spPr>
      </p:pic>
      <p:sp>
        <p:nvSpPr>
          <p:cNvPr id="17" name="Rounded Rectangle 16"/>
          <p:cNvSpPr/>
          <p:nvPr/>
        </p:nvSpPr>
        <p:spPr>
          <a:xfrm>
            <a:off x="502920" y="5989320"/>
            <a:ext cx="8138160" cy="384048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6035040"/>
            <a:ext cx="8138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 i="1">
                <a:solidFill>
                  <a:srgbClr val="616161"/>
                </a:solidFill>
                <a:latin typeface="Calibri"/>
              </a:rPr>
              <a:t>Customer CRUD (left) and vehicle registration linked to owners (right)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320040" y="164592"/>
            <a:ext cx="594360" cy="594360"/>
          </a:xfrm>
          <a:prstGeom prst="ellipse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256032"/>
            <a:ext cx="594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Segoe UI"/>
              </a:rPr>
              <a:t>AR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0" y="201168"/>
            <a:ext cx="1508760" cy="347472"/>
          </a:xfrm>
          <a:prstGeom prst="roundRect">
            <a:avLst>
              <a:gd name="adj" fmla="val 5000"/>
            </a:avLst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0" y="237744"/>
            <a:ext cx="1508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Segoe UI"/>
              </a:rPr>
              <a:t>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137160"/>
            <a:ext cx="6217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Segoe UI"/>
              </a:rPr>
              <a:t>Phase 2 — AI Integration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594360"/>
            <a:ext cx="6400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E3F2FD"/>
                </a:solidFill>
                <a:latin typeface="Calibri"/>
              </a:rPr>
              <a:t>Chapter 5.5 DeepSeek (DeepSeek, 2024)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73952"/>
            <a:ext cx="9144000" cy="384048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653796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i="0">
                <a:solidFill>
                  <a:srgbClr val="E3F2FD"/>
                </a:solidFill>
                <a:latin typeface="Calibri"/>
              </a:rPr>
              <a:t>AutoRepairAgent  |  Final Report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653796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BDBDBD"/>
                </a:solidFill>
                <a:latin typeface="Calibri"/>
              </a:rPr>
              <a:t>Results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653796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 i="0">
                <a:solidFill>
                  <a:srgbClr val="FFFFFF"/>
                </a:solidFill>
                <a:latin typeface="Calibri"/>
              </a:rPr>
              <a:t>17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1143000"/>
            <a:ext cx="8138160" cy="5257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1325880"/>
            <a:ext cx="77724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500" b="0" i="0">
                <a:solidFill>
                  <a:srgbClr val="212121"/>
                </a:solidFill>
                <a:latin typeface="Calibri"/>
              </a:rPr>
              <a:t>▸  POST /api/jobs/analyze — complaint + vehicle registration.</a:t>
            </a:r>
          </a:p>
          <a:p>
            <a:pPr>
              <a:spcAft>
                <a:spcPts val="900"/>
              </a:spcAft>
            </a:pPr>
            <a:r>
              <a:rPr sz="1500" b="0" i="0">
                <a:solidFill>
                  <a:srgbClr val="212121"/>
                </a:solidFill>
                <a:latin typeface="Calibri"/>
              </a:rPr>
              <a:t>▸  DeepSeek returns JSON: issues[], department, confidence, explanation.</a:t>
            </a:r>
          </a:p>
          <a:p>
            <a:pPr>
              <a:spcAft>
                <a:spcPts val="900"/>
              </a:spcAft>
            </a:pPr>
            <a:r>
              <a:rPr sz="1500" b="0" i="0">
                <a:solidFill>
                  <a:srgbClr val="212121"/>
                </a:solidFill>
                <a:latin typeface="Calibri"/>
              </a:rPr>
              <a:t>▸  Fallback keyword classifier when API unavailable.</a:t>
            </a:r>
          </a:p>
          <a:p>
            <a:pPr>
              <a:spcAft>
                <a:spcPts val="900"/>
              </a:spcAft>
            </a:pPr>
            <a:r>
              <a:rPr sz="1500" b="0" i="0">
                <a:solidFill>
                  <a:srgbClr val="212121"/>
                </a:solidFill>
                <a:latin typeface="Calibri"/>
              </a:rPr>
              <a:t>▸  One job per issue; auto-assigned to department staff.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320040" y="164592"/>
            <a:ext cx="594360" cy="594360"/>
          </a:xfrm>
          <a:prstGeom prst="ellipse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256032"/>
            <a:ext cx="594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Segoe UI"/>
              </a:rPr>
              <a:t>AR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0" y="201168"/>
            <a:ext cx="1508760" cy="347472"/>
          </a:xfrm>
          <a:prstGeom prst="roundRect">
            <a:avLst>
              <a:gd name="adj" fmla="val 5000"/>
            </a:avLst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0" y="237744"/>
            <a:ext cx="1508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Segoe UI"/>
              </a:rPr>
              <a:t>UI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137160"/>
            <a:ext cx="6217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Segoe UI"/>
              </a:rPr>
              <a:t>UI — AI Job Creation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594360"/>
            <a:ext cx="6400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E3F2FD"/>
                </a:solidFill>
                <a:latin typeface="Calibri"/>
              </a:rPr>
              <a:t>Chapter 6.4 — Create Job Page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73952"/>
            <a:ext cx="9144000" cy="384048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653796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i="0">
                <a:solidFill>
                  <a:srgbClr val="E3F2FD"/>
                </a:solidFill>
                <a:latin typeface="Calibri"/>
              </a:rPr>
              <a:t>AutoRepairAgent  |  Final Report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653796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BDBDBD"/>
                </a:solidFill>
                <a:latin typeface="Calibri"/>
              </a:rPr>
              <a:t>Results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653796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 i="0">
                <a:solidFill>
                  <a:srgbClr val="FFFFFF"/>
                </a:solidFill>
                <a:latin typeface="Calibri"/>
              </a:rPr>
              <a:t>18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1143000"/>
            <a:ext cx="8138160" cy="5257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r2-create-jo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0895" y="1234440"/>
            <a:ext cx="5787889" cy="4754880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502920" y="5989320"/>
            <a:ext cx="8138160" cy="384048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6035040"/>
            <a:ext cx="8138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 i="1">
                <a:solidFill>
                  <a:srgbClr val="616161"/>
                </a:solidFill>
                <a:latin typeface="Calibri"/>
              </a:rPr>
              <a:t>AI-powered complaint submission and classification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320040" y="164592"/>
            <a:ext cx="594360" cy="594360"/>
          </a:xfrm>
          <a:prstGeom prst="ellipse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256032"/>
            <a:ext cx="594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Segoe UI"/>
              </a:rPr>
              <a:t>AR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0" y="201168"/>
            <a:ext cx="1508760" cy="347472"/>
          </a:xfrm>
          <a:prstGeom prst="roundRect">
            <a:avLst>
              <a:gd name="adj" fmla="val 5000"/>
            </a:avLst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0" y="237744"/>
            <a:ext cx="1508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Segoe UI"/>
              </a:rPr>
              <a:t>FLOW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137160"/>
            <a:ext cx="6217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Segoe UI"/>
              </a:rPr>
              <a:t>Job Lifecycle Results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594360"/>
            <a:ext cx="6400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E3F2FD"/>
                </a:solidFill>
                <a:latin typeface="Calibri"/>
              </a:rPr>
              <a:t>Chapter 6.3 — Workflow Outcomes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73952"/>
            <a:ext cx="9144000" cy="384048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653796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i="0">
                <a:solidFill>
                  <a:srgbClr val="E3F2FD"/>
                </a:solidFill>
                <a:latin typeface="Calibri"/>
              </a:rPr>
              <a:t>AutoRepairAgent  |  Final Report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653796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BDBDBD"/>
                </a:solidFill>
                <a:latin typeface="Calibri"/>
              </a:rPr>
              <a:t>Results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653796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 i="0">
                <a:solidFill>
                  <a:srgbClr val="FFFFFF"/>
                </a:solidFill>
                <a:latin typeface="Calibri"/>
              </a:rPr>
              <a:t>19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1143000"/>
            <a:ext cx="8138160" cy="5257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1325880"/>
            <a:ext cx="77724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500" b="0" i="0">
                <a:solidFill>
                  <a:srgbClr val="212121"/>
                </a:solidFill>
                <a:latin typeface="Calibri"/>
              </a:rPr>
              <a:t>▸  Complaint → AI analysis → multi-job creation → auto-assign.</a:t>
            </a:r>
          </a:p>
          <a:p>
            <a:pPr>
              <a:spcAft>
                <a:spcPts val="900"/>
              </a:spcAft>
            </a:pPr>
            <a:r>
              <a:rPr sz="1500" b="0" i="0">
                <a:solidFill>
                  <a:srgbClr val="212121"/>
                </a:solidFill>
                <a:latin typeface="Calibri"/>
              </a:rPr>
              <a:t>▸  PENDING → ASSIGNED → IN_PROGRESS → COMPLETED.</a:t>
            </a:r>
          </a:p>
          <a:p>
            <a:pPr>
              <a:spcAft>
                <a:spcPts val="900"/>
              </a:spcAft>
            </a:pPr>
            <a:r>
              <a:rPr sz="1500" b="0" i="0">
                <a:solidFill>
                  <a:srgbClr val="212121"/>
                </a:solidFill>
                <a:latin typeface="Calibri"/>
              </a:rPr>
              <a:t>▸  Example: engine noise + headlight → Mechanical + Electrical jobs.</a:t>
            </a:r>
          </a:p>
          <a:p>
            <a:pPr>
              <a:spcAft>
                <a:spcPts val="900"/>
              </a:spcAft>
            </a:pPr>
            <a:r>
              <a:rPr sz="1500" b="0" i="0">
                <a:solidFill>
                  <a:srgbClr val="212121"/>
                </a:solidFill>
                <a:latin typeface="Calibri"/>
              </a:rPr>
              <a:t>▸  7 jobs created in testing; confidence scores logged.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320040" y="164592"/>
            <a:ext cx="594360" cy="594360"/>
          </a:xfrm>
          <a:prstGeom prst="ellipse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256032"/>
            <a:ext cx="594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Segoe UI"/>
              </a:rPr>
              <a:t>AR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0" y="201168"/>
            <a:ext cx="1508760" cy="347472"/>
          </a:xfrm>
          <a:prstGeom prst="roundRect">
            <a:avLst>
              <a:gd name="adj" fmla="val 5000"/>
            </a:avLst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0" y="237744"/>
            <a:ext cx="1508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Segoe UI"/>
              </a:rPr>
              <a:t>UI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137160"/>
            <a:ext cx="6217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Segoe UI"/>
              </a:rPr>
              <a:t>UI — Jobs &amp; AI Logs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594360"/>
            <a:ext cx="6400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E3F2FD"/>
                </a:solidFill>
                <a:latin typeface="Calibri"/>
              </a:rPr>
              <a:t>Chapter 6.4 — Job List &amp; AI Audit Trail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73952"/>
            <a:ext cx="9144000" cy="384048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653796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i="0">
                <a:solidFill>
                  <a:srgbClr val="E3F2FD"/>
                </a:solidFill>
                <a:latin typeface="Calibri"/>
              </a:rPr>
              <a:t>AutoRepairAgent  |  Final Report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653796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BDBDBD"/>
                </a:solidFill>
                <a:latin typeface="Calibri"/>
              </a:rPr>
              <a:t>Results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653796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 i="0">
                <a:solidFill>
                  <a:srgbClr val="FFFFFF"/>
                </a:solidFill>
                <a:latin typeface="Calibri"/>
              </a:rPr>
              <a:t>20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1143000"/>
            <a:ext cx="8138160" cy="5257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r2-job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942920"/>
            <a:ext cx="3840480" cy="3155040"/>
          </a:xfrm>
          <a:prstGeom prst="rect">
            <a:avLst/>
          </a:prstGeom>
        </p:spPr>
      </p:pic>
      <p:pic>
        <p:nvPicPr>
          <p:cNvPr id="16" name="Picture 15" descr="r2-ai-analysi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6280" y="1942920"/>
            <a:ext cx="3840480" cy="3155040"/>
          </a:xfrm>
          <a:prstGeom prst="rect">
            <a:avLst/>
          </a:prstGeom>
        </p:spPr>
      </p:pic>
      <p:sp>
        <p:nvSpPr>
          <p:cNvPr id="17" name="Rounded Rectangle 16"/>
          <p:cNvSpPr/>
          <p:nvPr/>
        </p:nvSpPr>
        <p:spPr>
          <a:xfrm>
            <a:off x="502920" y="5989320"/>
            <a:ext cx="8138160" cy="384048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6035040"/>
            <a:ext cx="8138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 i="1">
                <a:solidFill>
                  <a:srgbClr val="616161"/>
                </a:solidFill>
                <a:latin typeface="Calibri"/>
              </a:rPr>
              <a:t>Jobs routed by department (left); AI analysis log with confidence scores (right)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320040" y="164592"/>
            <a:ext cx="594360" cy="594360"/>
          </a:xfrm>
          <a:prstGeom prst="ellipse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256032"/>
            <a:ext cx="594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Segoe UI"/>
              </a:rPr>
              <a:t>AR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0" y="201168"/>
            <a:ext cx="1508760" cy="347472"/>
          </a:xfrm>
          <a:prstGeom prst="roundRect">
            <a:avLst>
              <a:gd name="adj" fmla="val 5000"/>
            </a:avLst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0" y="237744"/>
            <a:ext cx="1508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Segoe UI"/>
              </a:rPr>
              <a:t>UI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137160"/>
            <a:ext cx="6217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Segoe UI"/>
              </a:rPr>
              <a:t>UI — Dashboard &amp; Workflow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594360"/>
            <a:ext cx="6400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E3F2FD"/>
                </a:solidFill>
                <a:latin typeface="Calibri"/>
              </a:rPr>
              <a:t>Chapter 6.4 — KPIs &amp; End-to-End Flow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73952"/>
            <a:ext cx="9144000" cy="384048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653796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i="0">
                <a:solidFill>
                  <a:srgbClr val="E3F2FD"/>
                </a:solidFill>
                <a:latin typeface="Calibri"/>
              </a:rPr>
              <a:t>AutoRepairAgent  |  Final Report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653796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BDBDBD"/>
                </a:solidFill>
                <a:latin typeface="Calibri"/>
              </a:rPr>
              <a:t>Results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653796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 i="0">
                <a:solidFill>
                  <a:srgbClr val="FFFFFF"/>
                </a:solidFill>
                <a:latin typeface="Calibri"/>
              </a:rPr>
              <a:t>21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1143000"/>
            <a:ext cx="8138160" cy="5257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05-admin-dashboard-fu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942920"/>
            <a:ext cx="3840480" cy="3155040"/>
          </a:xfrm>
          <a:prstGeom prst="rect">
            <a:avLst/>
          </a:prstGeom>
        </p:spPr>
      </p:pic>
      <p:pic>
        <p:nvPicPr>
          <p:cNvPr id="16" name="Picture 15" descr="07-workflow-diagr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6280" y="2532888"/>
            <a:ext cx="3840480" cy="1975103"/>
          </a:xfrm>
          <a:prstGeom prst="rect">
            <a:avLst/>
          </a:prstGeom>
        </p:spPr>
      </p:pic>
      <p:sp>
        <p:nvSpPr>
          <p:cNvPr id="17" name="Rounded Rectangle 16"/>
          <p:cNvSpPr/>
          <p:nvPr/>
        </p:nvSpPr>
        <p:spPr>
          <a:xfrm>
            <a:off x="502920" y="5989320"/>
            <a:ext cx="8138160" cy="384048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6035040"/>
            <a:ext cx="8138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 i="1">
                <a:solidFill>
                  <a:srgbClr val="616161"/>
                </a:solidFill>
                <a:latin typeface="Calibri"/>
              </a:rPr>
              <a:t>Admin KPI dashboard (left); complaint-to-completion workflow (right)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320040" y="164592"/>
            <a:ext cx="594360" cy="594360"/>
          </a:xfrm>
          <a:prstGeom prst="ellipse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256032"/>
            <a:ext cx="594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Segoe UI"/>
              </a:rPr>
              <a:t>AR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0" y="201168"/>
            <a:ext cx="1508760" cy="347472"/>
          </a:xfrm>
          <a:prstGeom prst="roundRect">
            <a:avLst>
              <a:gd name="adj" fmla="val 5000"/>
            </a:avLst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0" y="237744"/>
            <a:ext cx="1508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Segoe UI"/>
              </a:rPr>
              <a:t>CH 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137160"/>
            <a:ext cx="6217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Segoe UI"/>
              </a:rPr>
              <a:t>Chapter 6 — Results Summary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594360"/>
            <a:ext cx="6400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E3F2FD"/>
                </a:solidFill>
                <a:latin typeface="Calibri"/>
              </a:rPr>
              <a:t>Quantitative Outcomes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73952"/>
            <a:ext cx="9144000" cy="384048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653796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i="0">
                <a:solidFill>
                  <a:srgbClr val="E3F2FD"/>
                </a:solidFill>
                <a:latin typeface="Calibri"/>
              </a:rPr>
              <a:t>AutoRepairAgent  |  Final Report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653796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BDBDBD"/>
                </a:solidFill>
                <a:latin typeface="Calibri"/>
              </a:rPr>
              <a:t>Results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653796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 i="0">
                <a:solidFill>
                  <a:srgbClr val="FFFFFF"/>
                </a:solidFill>
                <a:latin typeface="Calibri"/>
              </a:rPr>
              <a:t>22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1143000"/>
            <a:ext cx="8138160" cy="5257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685800" y="1325880"/>
          <a:ext cx="7772400" cy="26883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0"/>
                <a:gridCol w="2743200"/>
              </a:tblGrid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Deliverable</a:t>
                      </a:r>
                    </a:p>
                  </a:txBody>
                  <a:tcPr anchor="ctr">
                    <a:solidFill>
                      <a:srgbClr val="0F27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Outcome</a:t>
                      </a:r>
                    </a:p>
                  </a:txBody>
                  <a:tcPr anchor="ctr">
                    <a:solidFill>
                      <a:srgbClr val="0F274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12121"/>
                          </a:solidFill>
                          <a:latin typeface="Calibri"/>
                        </a:rPr>
                        <a:t>REST API endpoints implemented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12121"/>
                          </a:solidFill>
                          <a:latin typeface="Calibri"/>
                        </a:rPr>
                        <a:t>34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12121"/>
                          </a:solidFill>
                          <a:latin typeface="Calibri"/>
                        </a:rPr>
                        <a:t>Database tables designed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12121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12121"/>
                          </a:solidFill>
                          <a:latin typeface="Calibri"/>
                        </a:rPr>
                        <a:t>User roles with RBAC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12121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12121"/>
                          </a:solidFill>
                          <a:latin typeface="Calibri"/>
                        </a:rPr>
                        <a:t>Workshop departments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12121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12121"/>
                          </a:solidFill>
                          <a:latin typeface="Calibri"/>
                        </a:rPr>
                        <a:t>UI pages with screenshots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12121"/>
                          </a:solidFill>
                          <a:latin typeface="Calibri"/>
                        </a:rPr>
                        <a:t>15+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12121"/>
                          </a:solidFill>
                          <a:latin typeface="Calibri"/>
                        </a:rPr>
                        <a:t>End-to-end workflow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12121"/>
                          </a:solidFill>
                          <a:latin typeface="Calibri"/>
                        </a:rPr>
                        <a:t>Verified ✓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320040" y="164592"/>
            <a:ext cx="594360" cy="594360"/>
          </a:xfrm>
          <a:prstGeom prst="ellipse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256032"/>
            <a:ext cx="594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Segoe UI"/>
              </a:rPr>
              <a:t>AR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0" y="201168"/>
            <a:ext cx="1508760" cy="347472"/>
          </a:xfrm>
          <a:prstGeom prst="roundRect">
            <a:avLst>
              <a:gd name="adj" fmla="val 5000"/>
            </a:avLst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0" y="237744"/>
            <a:ext cx="1508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Segoe UI"/>
              </a:rPr>
              <a:t>CH 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137160"/>
            <a:ext cx="6217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Segoe UI"/>
              </a:rPr>
              <a:t>Chapter 7 — Discussion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594360"/>
            <a:ext cx="6400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E3F2FD"/>
                </a:solidFill>
                <a:latin typeface="Calibri"/>
              </a:rPr>
              <a:t>Limitations &amp; Critical Evaluation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73952"/>
            <a:ext cx="9144000" cy="384048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653796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i="0">
                <a:solidFill>
                  <a:srgbClr val="E3F2FD"/>
                </a:solidFill>
                <a:latin typeface="Calibri"/>
              </a:rPr>
              <a:t>AutoRepairAgent  |  Final Report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653796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BDBDBD"/>
                </a:solidFill>
                <a:latin typeface="Calibri"/>
              </a:rPr>
              <a:t>Discussion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653796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 i="0">
                <a:solidFill>
                  <a:srgbClr val="FFFFFF"/>
                </a:solidFill>
                <a:latin typeface="Calibri"/>
              </a:rPr>
              <a:t>23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1143000"/>
            <a:ext cx="8138160" cy="5257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85800" y="1280160"/>
            <a:ext cx="3657600" cy="347472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1316736"/>
            <a:ext cx="3657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Segoe UI"/>
              </a:rPr>
              <a:t>Limitations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663440" y="1280160"/>
            <a:ext cx="3657600" cy="347472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63440" y="1316736"/>
            <a:ext cx="3657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Segoe UI"/>
              </a:rPr>
              <a:t>Achievements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1737360"/>
            <a:ext cx="3657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300" b="0" i="0">
                <a:solidFill>
                  <a:srgbClr val="212121"/>
                </a:solidFill>
                <a:latin typeface="Calibri"/>
              </a:rPr>
              <a:t>▸  AI accuracy depends on DeepSeek API availability</a:t>
            </a:r>
          </a:p>
          <a:p>
            <a:pPr>
              <a:spcAft>
                <a:spcPts val="700"/>
              </a:spcAft>
            </a:pPr>
            <a:r>
              <a:rPr sz="1300" b="0" i="0">
                <a:solidFill>
                  <a:srgbClr val="212121"/>
                </a:solidFill>
                <a:latin typeface="Calibri"/>
              </a:rPr>
              <a:t>▸  Fallback uses English keywords only</a:t>
            </a:r>
          </a:p>
          <a:p>
            <a:pPr>
              <a:spcAft>
                <a:spcPts val="700"/>
              </a:spcAft>
            </a:pPr>
            <a:r>
              <a:rPr sz="1300" b="0" i="0">
                <a:solidFill>
                  <a:srgbClr val="212121"/>
                </a:solidFill>
                <a:latin typeface="Calibri"/>
              </a:rPr>
              <a:t>▸  Naive first-available technician assignment</a:t>
            </a:r>
          </a:p>
          <a:p>
            <a:pPr>
              <a:spcAft>
                <a:spcPts val="700"/>
              </a:spcAft>
            </a:pPr>
            <a:r>
              <a:rPr sz="1300" b="0" i="0">
                <a:solidFill>
                  <a:srgbClr val="212121"/>
                </a:solidFill>
                <a:latin typeface="Calibri"/>
              </a:rPr>
              <a:t>▸  No automated test coverage</a:t>
            </a:r>
          </a:p>
          <a:p>
            <a:pPr>
              <a:spcAft>
                <a:spcPts val="700"/>
              </a:spcAft>
            </a:pPr>
            <a:r>
              <a:rPr sz="1300" b="0" i="0">
                <a:solidFill>
                  <a:srgbClr val="212121"/>
                </a:solidFill>
                <a:latin typeface="Calibri"/>
              </a:rPr>
              <a:t>▸  English-only UI interface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63440" y="1737360"/>
            <a:ext cx="3657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300" b="0" i="0">
                <a:solidFill>
                  <a:srgbClr val="212121"/>
                </a:solidFill>
                <a:latin typeface="Calibri"/>
              </a:rPr>
              <a:t>▸  All primary objectives substantially achieved</a:t>
            </a:r>
          </a:p>
          <a:p>
            <a:pPr>
              <a:spcAft>
                <a:spcPts val="700"/>
              </a:spcAft>
            </a:pPr>
            <a:r>
              <a:rPr sz="1300" b="0" i="0">
                <a:solidFill>
                  <a:srgbClr val="212121"/>
                </a:solidFill>
                <a:latin typeface="Calibri"/>
              </a:rPr>
              <a:t>▸  Clean Architecture proved maintainable</a:t>
            </a:r>
          </a:p>
          <a:p>
            <a:pPr>
              <a:spcAft>
                <a:spcPts val="700"/>
              </a:spcAft>
            </a:pPr>
            <a:r>
              <a:rPr sz="1300" b="0" i="0">
                <a:solidFill>
                  <a:srgbClr val="212121"/>
                </a:solidFill>
                <a:latin typeface="Calibri"/>
              </a:rPr>
              <a:t>▸  RBAC correctly filters jobs by role</a:t>
            </a:r>
          </a:p>
          <a:p>
            <a:pPr>
              <a:spcAft>
                <a:spcPts val="700"/>
              </a:spcAft>
            </a:pPr>
            <a:r>
              <a:rPr sz="1300" b="0" i="0">
                <a:solidFill>
                  <a:srgbClr val="212121"/>
                </a:solidFill>
                <a:latin typeface="Calibri"/>
              </a:rPr>
              <a:t>▸  Audit trail supports AI accountability</a:t>
            </a:r>
          </a:p>
          <a:p>
            <a:pPr>
              <a:spcAft>
                <a:spcPts val="700"/>
              </a:spcAft>
            </a:pPr>
            <a:r>
              <a:rPr sz="1300" b="0" i="0">
                <a:solidFill>
                  <a:srgbClr val="212121"/>
                </a:solidFill>
                <a:latin typeface="Calibri"/>
              </a:rPr>
              <a:t>▸  System demonstrable on localhost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320040" y="164592"/>
            <a:ext cx="594360" cy="594360"/>
          </a:xfrm>
          <a:prstGeom prst="ellipse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256032"/>
            <a:ext cx="594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Segoe UI"/>
              </a:rPr>
              <a:t>AR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0" y="201168"/>
            <a:ext cx="1508760" cy="347472"/>
          </a:xfrm>
          <a:prstGeom prst="roundRect">
            <a:avLst>
              <a:gd name="adj" fmla="val 5000"/>
            </a:avLst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0" y="237744"/>
            <a:ext cx="1508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Segoe UI"/>
              </a:rPr>
              <a:t>CH 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137160"/>
            <a:ext cx="6217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Segoe UI"/>
              </a:rPr>
              <a:t>Chapter 8 — Conclusions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594360"/>
            <a:ext cx="6400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E3F2FD"/>
                </a:solidFill>
                <a:latin typeface="Calibri"/>
              </a:rPr>
              <a:t>Final Assessment &amp; Future Work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73952"/>
            <a:ext cx="9144000" cy="384048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653796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i="0">
                <a:solidFill>
                  <a:srgbClr val="E3F2FD"/>
                </a:solidFill>
                <a:latin typeface="Calibri"/>
              </a:rPr>
              <a:t>AutoRepairAgent  |  Final Report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653796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BDBDBD"/>
                </a:solidFill>
                <a:latin typeface="Calibri"/>
              </a:rPr>
              <a:t>Conclusion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653796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 i="0">
                <a:solidFill>
                  <a:srgbClr val="FFFFFF"/>
                </a:solidFill>
                <a:latin typeface="Calibri"/>
              </a:rPr>
              <a:t>24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1143000"/>
            <a:ext cx="8138160" cy="5257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77240" y="1325880"/>
            <a:ext cx="3200400" cy="502920"/>
          </a:xfrm>
          <a:prstGeom prst="roundRect">
            <a:avLst>
              <a:gd name="adj" fmla="val 5000"/>
            </a:avLst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1371600"/>
            <a:ext cx="3200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Segoe UI"/>
              </a:rPr>
              <a:t>✔  PROJECT COMPLETE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2011680"/>
            <a:ext cx="7589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 i="0">
                <a:solidFill>
                  <a:srgbClr val="212121"/>
                </a:solidFill>
                <a:latin typeface="Calibri"/>
              </a:rPr>
              <a:t>▸  AutoRepairAgent achieves all core development objectives.</a:t>
            </a:r>
          </a:p>
          <a:p>
            <a:r>
              <a:rPr sz="1500" b="0" i="0">
                <a:solidFill>
                  <a:srgbClr val="212121"/>
                </a:solidFill>
                <a:latin typeface="Calibri"/>
              </a:rPr>
              <a:t>▸  Contribution: affordable AI-integrated workshop management prototype.</a:t>
            </a:r>
          </a:p>
          <a:p>
            <a:r>
              <a:rPr sz="1500" b="0" i="0">
                <a:solidFill>
                  <a:srgbClr val="212121"/>
                </a:solidFill>
                <a:latin typeface="Calibri"/>
              </a:rPr>
              <a:t>▸  Future: cloud deployment, Sinhala/Tamil i18n, SMS notifications.</a:t>
            </a:r>
          </a:p>
          <a:p>
            <a:r>
              <a:rPr sz="1500" b="0" i="0">
                <a:solidFill>
                  <a:srgbClr val="212121"/>
                </a:solidFill>
                <a:latin typeface="Calibri"/>
              </a:rPr>
              <a:t>▸  Future: Jest/Playwright tests, load-balanced assignment, inventory module.</a:t>
            </a:r>
          </a:p>
          <a:p>
            <a:r>
              <a:rPr sz="1500" b="0" i="0">
                <a:solidFill>
                  <a:srgbClr val="212121"/>
                </a:solidFill>
                <a:latin typeface="Calibri"/>
              </a:rPr>
              <a:t>▸  Thank you — Questions &amp; Discussion.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320040" y="164592"/>
            <a:ext cx="594360" cy="594360"/>
          </a:xfrm>
          <a:prstGeom prst="ellipse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256032"/>
            <a:ext cx="594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Segoe UI"/>
              </a:rPr>
              <a:t>AR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0" y="201168"/>
            <a:ext cx="1508760" cy="347472"/>
          </a:xfrm>
          <a:prstGeom prst="roundRect">
            <a:avLst>
              <a:gd name="adj" fmla="val 5000"/>
            </a:avLst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0" y="237744"/>
            <a:ext cx="1508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Segoe UI"/>
              </a:rPr>
              <a:t>REF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137160"/>
            <a:ext cx="6217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Segoe UI"/>
              </a:rPr>
              <a:t>References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594360"/>
            <a:ext cx="6400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E3F2FD"/>
                </a:solidFill>
                <a:latin typeface="Calibri"/>
              </a:rPr>
              <a:t>APA 7th Edition — 6 Key Sources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73952"/>
            <a:ext cx="9144000" cy="384048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653796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i="0">
                <a:solidFill>
                  <a:srgbClr val="E3F2FD"/>
                </a:solidFill>
                <a:latin typeface="Calibri"/>
              </a:rPr>
              <a:t>AutoRepairAgent  |  Final Report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653796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 i="0">
                <a:solidFill>
                  <a:srgbClr val="FFFFFF"/>
                </a:solidFill>
                <a:latin typeface="Calibri"/>
              </a:rPr>
              <a:t>25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1143000"/>
            <a:ext cx="8138160" cy="5257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1371600"/>
            <a:ext cx="75895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300" b="0" i="0">
                <a:solidFill>
                  <a:srgbClr val="212121"/>
                </a:solidFill>
                <a:latin typeface="Calibri"/>
              </a:rPr>
              <a:t>1.  DeepSeek. (2024). DeepSeek API documentation. https://api-docs.deepseek.com</a:t>
            </a:r>
          </a:p>
          <a:p>
            <a:pPr>
              <a:spcAft>
                <a:spcPts val="1400"/>
              </a:spcAft>
            </a:pPr>
            <a:r>
              <a:rPr sz="1300" b="0" i="0">
                <a:solidFill>
                  <a:srgbClr val="212121"/>
                </a:solidFill>
                <a:latin typeface="Calibri"/>
              </a:rPr>
              <a:t>2.  Martin, R. C. (2017). Clean architecture: A craftsman's guide to software structure and design. Prentice Hall.</a:t>
            </a:r>
          </a:p>
          <a:p>
            <a:pPr>
              <a:spcAft>
                <a:spcPts val="1400"/>
              </a:spcAft>
            </a:pPr>
            <a:r>
              <a:rPr sz="1300" b="0" i="0">
                <a:solidFill>
                  <a:srgbClr val="212121"/>
                </a:solidFill>
                <a:latin typeface="Calibri"/>
              </a:rPr>
              <a:t>3.  Meta Platforms, Inc. (2024). React documentation. https://react.dev</a:t>
            </a:r>
          </a:p>
          <a:p>
            <a:pPr>
              <a:spcAft>
                <a:spcPts val="1400"/>
              </a:spcAft>
            </a:pPr>
            <a:r>
              <a:rPr sz="1300" b="0" i="0">
                <a:solidFill>
                  <a:srgbClr val="212121"/>
                </a:solidFill>
                <a:latin typeface="Calibri"/>
              </a:rPr>
              <a:t>4.  OWASP Foundation. (2021). Authentication cheat sheet. https://cheatsheetseries.owasp.org/cheatsheets/Authentication_Cheat_Sheet.html</a:t>
            </a:r>
          </a:p>
          <a:p>
            <a:pPr>
              <a:spcAft>
                <a:spcPts val="1400"/>
              </a:spcAft>
            </a:pPr>
            <a:r>
              <a:rPr sz="1300" b="0" i="0">
                <a:solidFill>
                  <a:srgbClr val="212121"/>
                </a:solidFill>
                <a:latin typeface="Calibri"/>
              </a:rPr>
              <a:t>5.  Prisma Data, Inc. (2024). Prisma ORM documentation. https://www.prisma.io/docs</a:t>
            </a:r>
          </a:p>
          <a:p>
            <a:pPr>
              <a:spcAft>
                <a:spcPts val="1400"/>
              </a:spcAft>
            </a:pPr>
            <a:r>
              <a:rPr sz="1300" b="0" i="0">
                <a:solidFill>
                  <a:srgbClr val="212121"/>
                </a:solidFill>
                <a:latin typeface="Calibri"/>
              </a:rPr>
              <a:t>6.  Sommerville, I. (2016). Software engineering (10th ed.). Pearson.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